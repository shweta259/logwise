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c49951acf5_2_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c49951acf5_2_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g3c49951acf5_2_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49951acf5_2_73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g3c49951acf5_2_73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3c49951acf5_2_73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49951acf5_2_14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c49951acf5_2_14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c49951acf5_2_14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c49951acf5_2_242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0" name="Google Shape;290;g3c49951acf5_2_242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g3c49951acf5_2_242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c49951acf5_2_34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3" name="Google Shape;393;g3c49951acf5_2_34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c49951acf5_2_34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3c49951acf5_2_494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4" name="Google Shape;544;g3c49951acf5_2_494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g3c49951acf5_2_494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g3c49951acf5_2_580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1" name="Google Shape;631;g3c49951acf5_2_580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g3c49951acf5_2_580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c49951acf5_2_696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8" name="Google Shape;748;g3c49951acf5_2_696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g3c49951acf5_2_696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c49951acf5_2_81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2" name="Google Shape;872;g3c49951acf5_2_81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g3c49951acf5_2_81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3c49951acf5_2_9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3" name="Google Shape;1023;g3c49951acf5_2_9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g3c49951acf5_2_9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g3c49951acf5_2_1069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1" name="Google Shape;1121;g3c49951acf5_2_1069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g3c49951acf5_2_1069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c49951acf5_2_1207:notes"/>
          <p:cNvSpPr/>
          <p:nvPr>
            <p:ph idx="2" type="sldImg"/>
          </p:nvPr>
        </p:nvSpPr>
        <p:spPr>
          <a:xfrm>
            <a:off x="914400" y="1143000"/>
            <a:ext cx="73152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0" name="Google Shape;1260;g3c49951acf5_2_1207:notes"/>
          <p:cNvSpPr txBox="1"/>
          <p:nvPr>
            <p:ph idx="1" type="body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1" name="Google Shape;1261;g3c49951acf5_2_1207:notes"/>
          <p:cNvSpPr txBox="1"/>
          <p:nvPr>
            <p:ph idx="12" type="sldNum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1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" name="Google Shape;58;p15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5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5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5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" name="Google Shape;65;p15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" name="Google Shape;66;p15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" name="Google Shape;68;p15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" name="Google Shape;69;p15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5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5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5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5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5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5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5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" name="Google Shape;79;p15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" name="Google Shape;80;p15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" name="Google Shape;81;p15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" name="Google Shape;82;p1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" name="Google Shape;83;p15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15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" name="Google Shape;85;p15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" name="Google Shape;87;p15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" name="Google Shape;88;p15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" name="Google Shape;89;p15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" name="Google Shape;90;p15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" name="Google Shape;91;p15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15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" name="Google Shape;93;p15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" name="Google Shape;94;p15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" name="Google Shape;95;p15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" name="Google Shape;96;p15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" name="Google Shape;97;p15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" name="Google Shape;98;p1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457200" y="73152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2A"/>
              </a:buClr>
              <a:buSzPts val="13000"/>
              <a:buFont typeface="Calibri"/>
              <a:buNone/>
            </a:pPr>
            <a:r>
              <a:rPr b="1" i="0" lang="en" sz="13000" u="none" cap="none" strike="noStrike">
                <a:solidFill>
                  <a:srgbClr val="141B2A"/>
                </a:solidFill>
                <a:latin typeface="Calibri"/>
                <a:ea typeface="Calibri"/>
                <a:cs typeface="Calibri"/>
                <a:sym typeface="Calibri"/>
              </a:rPr>
              <a:t>LOGWISE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960120" y="1554480"/>
            <a:ext cx="128016" cy="128016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1143000" y="150876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LIVE ANALYSIS ENGINE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731520" y="1828800"/>
            <a:ext cx="76809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6400"/>
              <a:buFont typeface="Calibri"/>
              <a:buNone/>
            </a:pPr>
            <a:r>
              <a:rPr b="1" i="0" lang="en" sz="64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LogWise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731520" y="2926080"/>
            <a:ext cx="6400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800"/>
              <a:buFont typeface="Calibri"/>
              <a:buNone/>
            </a:pPr>
            <a:r>
              <a:rPr b="0" i="0" lang="en" sz="1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Autonomous macOS Log Intelligence Platform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5"/>
          <p:cNvSpPr/>
          <p:nvPr/>
        </p:nvSpPr>
        <p:spPr>
          <a:xfrm>
            <a:off x="731520" y="3401568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300"/>
              <a:buFont typeface="Calibri"/>
              <a:buNone/>
            </a:pPr>
            <a:r>
              <a:rPr b="0" i="0" lang="en" sz="13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Diagnose enterprise app failures from logs alone — no customer access required.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/>
          <p:nvPr/>
        </p:nvSpPr>
        <p:spPr>
          <a:xfrm>
            <a:off x="731520" y="4114800"/>
            <a:ext cx="1280160" cy="201168"/>
          </a:xfrm>
          <a:prstGeom prst="rect">
            <a:avLst/>
          </a:prstGeom>
          <a:solidFill>
            <a:srgbClr val="E8B84B">
              <a:alpha val="12156"/>
            </a:srgbClr>
          </a:solidFill>
          <a:ln cap="flat" cmpd="sng" w="101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731520" y="4114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macOS ENTERPRISE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2121408" y="4114800"/>
            <a:ext cx="1280160" cy="201168"/>
          </a:xfrm>
          <a:prstGeom prst="rect">
            <a:avLst/>
          </a:prstGeom>
          <a:solidFill>
            <a:srgbClr val="3AB8F5">
              <a:alpha val="1215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2121408" y="4114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AI-POWERED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3511296" y="4114800"/>
            <a:ext cx="1280160" cy="201168"/>
          </a:xfrm>
          <a:prstGeom prst="rect">
            <a:avLst/>
          </a:prstGeom>
          <a:solidFill>
            <a:srgbClr val="28D47A">
              <a:alpha val="12156"/>
            </a:srgbClr>
          </a:solidFill>
          <a:ln cap="flat" cmpd="sng" w="101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511296" y="4114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AUTONOMOUS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4901184" y="4114800"/>
            <a:ext cx="1280160" cy="201168"/>
          </a:xfrm>
          <a:prstGeom prst="rect">
            <a:avLst/>
          </a:prstGeom>
          <a:solidFill>
            <a:srgbClr val="F07C3A">
              <a:alpha val="12156"/>
            </a:srgbClr>
          </a:solidFill>
          <a:ln cap="flat" cmpd="sng" w="101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901184" y="411480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PRODUCTION READY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520"/>
          </a:solidFill>
          <a:ln cap="flat" cmpd="sng" w="1270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57200" y="486460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40 Tests · 88% Coverage · 8 Signatures · Claude AI · 4-Stage Pipeline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640080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15"/>
          <p:cNvCxnSpPr/>
          <p:nvPr/>
        </p:nvCxnSpPr>
        <p:spPr>
          <a:xfrm>
            <a:off x="640080" y="141732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8339328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15"/>
          <p:cNvCxnSpPr/>
          <p:nvPr/>
        </p:nvCxnSpPr>
        <p:spPr>
          <a:xfrm>
            <a:off x="8503920" y="141732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15"/>
          <p:cNvCxnSpPr/>
          <p:nvPr/>
        </p:nvCxnSpPr>
        <p:spPr>
          <a:xfrm>
            <a:off x="640080" y="427024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15"/>
          <p:cNvCxnSpPr/>
          <p:nvPr/>
        </p:nvCxnSpPr>
        <p:spPr>
          <a:xfrm>
            <a:off x="640080" y="44348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15"/>
          <p:cNvCxnSpPr/>
          <p:nvPr/>
        </p:nvCxnSpPr>
        <p:spPr>
          <a:xfrm>
            <a:off x="8339328" y="44348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15"/>
          <p:cNvCxnSpPr/>
          <p:nvPr/>
        </p:nvCxnSpPr>
        <p:spPr>
          <a:xfrm>
            <a:off x="8503920" y="427024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8" name="Google Shape;128;p1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" name="Google Shape;129;p16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6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" name="Google Shape;131;p16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16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" name="Google Shape;133;p16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" name="Google Shape;134;p16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" name="Google Shape;135;p16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" name="Google Shape;136;p16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7" name="Google Shape;137;p16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" name="Google Shape;138;p16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16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" name="Google Shape;140;p16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" name="Google Shape;141;p16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" name="Google Shape;142;p16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" name="Google Shape;143;p16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4" name="Google Shape;144;p16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" name="Google Shape;145;p16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6" name="Google Shape;146;p16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" name="Google Shape;147;p16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" name="Google Shape;148;p16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" name="Google Shape;149;p16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16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16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16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1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4" name="Google Shape;154;p1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" name="Google Shape;155;p16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6" name="Google Shape;156;p16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7" name="Google Shape;157;p16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" name="Google Shape;158;p16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9" name="Google Shape;159;p16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0" name="Google Shape;160;p16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1" name="Google Shape;161;p16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" name="Google Shape;162;p16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6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" name="Google Shape;164;p16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" name="Google Shape;165;p16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6" name="Google Shape;166;p16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7" name="Google Shape;167;p16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8" name="Google Shape;168;p16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" name="Google Shape;169;p1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6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01 — PROBLEM STATEMENT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457200" y="1005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400"/>
              <a:buFont typeface="Calibri"/>
              <a:buNone/>
            </a:pPr>
            <a:r>
              <a:rPr b="0" i="0" lang="en" sz="14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Enterprise macOS apps fail. Customers are unavailable. Logs are the only witness.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457200" y="1508760"/>
            <a:ext cx="2651760" cy="24688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6"/>
          <p:cNvSpPr/>
          <p:nvPr/>
        </p:nvSpPr>
        <p:spPr>
          <a:xfrm>
            <a:off x="457200" y="1508760"/>
            <a:ext cx="2651760" cy="45720"/>
          </a:xfrm>
          <a:prstGeom prst="rect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6"/>
          <p:cNvSpPr/>
          <p:nvPr/>
        </p:nvSpPr>
        <p:spPr>
          <a:xfrm>
            <a:off x="493803" y="1682490"/>
            <a:ext cx="243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Silent OS Failures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566925" y="2194551"/>
            <a:ext cx="2432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macOS failure patterns Sandbox, AMFI, Jetsam, VPN </a:t>
            </a:r>
            <a:r>
              <a:rPr lang="en" sz="1000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 all fail silently. The app logs 'cannot connect'. The real cause is in kernel logs, completely invisible to the app.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566928" y="3675888"/>
            <a:ext cx="1280160" cy="201168"/>
          </a:xfrm>
          <a:prstGeom prst="rect">
            <a:avLst/>
          </a:prstGeom>
          <a:solidFill>
            <a:srgbClr val="E84545">
              <a:alpha val="12156"/>
            </a:srgbClr>
          </a:solidFill>
          <a:ln cap="flat" cmpd="sng" w="1015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6"/>
          <p:cNvSpPr/>
          <p:nvPr/>
        </p:nvSpPr>
        <p:spPr>
          <a:xfrm>
            <a:off x="566928" y="36758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KERNEL LAYER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/>
          <p:nvPr/>
        </p:nvSpPr>
        <p:spPr>
          <a:xfrm>
            <a:off x="3291840" y="1508760"/>
            <a:ext cx="2651760" cy="24688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3291840" y="1508760"/>
            <a:ext cx="2651760" cy="45720"/>
          </a:xfrm>
          <a:prstGeom prst="rect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6"/>
          <p:cNvSpPr/>
          <p:nvPr/>
        </p:nvSpPr>
        <p:spPr>
          <a:xfrm>
            <a:off x="3401556" y="1728203"/>
            <a:ext cx="243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Cascade Failures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/>
          <p:nvPr/>
        </p:nvSpPr>
        <p:spPr>
          <a:xfrm>
            <a:off x="3401575" y="2194626"/>
            <a:ext cx="2432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One root cause creates 7 symptoms. Engineers open 7 tickets and chase all of them. Without causality, you fix symptoms forever.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6"/>
          <p:cNvSpPr/>
          <p:nvPr/>
        </p:nvSpPr>
        <p:spPr>
          <a:xfrm>
            <a:off x="3401568" y="3675888"/>
            <a:ext cx="1280160" cy="201168"/>
          </a:xfrm>
          <a:prstGeom prst="rect">
            <a:avLst/>
          </a:prstGeom>
          <a:solidFill>
            <a:srgbClr val="E84545">
              <a:alpha val="12156"/>
            </a:srgbClr>
          </a:solidFill>
          <a:ln cap="flat" cmpd="sng" w="1015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6"/>
          <p:cNvSpPr/>
          <p:nvPr/>
        </p:nvSpPr>
        <p:spPr>
          <a:xfrm>
            <a:off x="3401568" y="36758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SIGNAL vs NOISE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6"/>
          <p:cNvSpPr/>
          <p:nvPr/>
        </p:nvSpPr>
        <p:spPr>
          <a:xfrm>
            <a:off x="6126480" y="1508760"/>
            <a:ext cx="2651760" cy="24688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6"/>
          <p:cNvSpPr/>
          <p:nvPr/>
        </p:nvSpPr>
        <p:spPr>
          <a:xfrm>
            <a:off x="6126480" y="1508760"/>
            <a:ext cx="2651760" cy="45720"/>
          </a:xfrm>
          <a:prstGeom prst="rect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6217933" y="1751065"/>
            <a:ext cx="243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No Customer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/>
          <p:nvPr/>
        </p:nvSpPr>
        <p:spPr>
          <a:xfrm>
            <a:off x="6236200" y="2194775"/>
            <a:ext cx="2432400" cy="128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You cannot SSH in. You cannot ask questions. You have 3 log files emailed from IT. That's it. The tool must be fully autonomous.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6"/>
          <p:cNvSpPr/>
          <p:nvPr/>
        </p:nvSpPr>
        <p:spPr>
          <a:xfrm>
            <a:off x="6236208" y="3675888"/>
            <a:ext cx="1280160" cy="201168"/>
          </a:xfrm>
          <a:prstGeom prst="rect">
            <a:avLst/>
          </a:prstGeom>
          <a:solidFill>
            <a:srgbClr val="E84545">
              <a:alpha val="12156"/>
            </a:srgbClr>
          </a:solidFill>
          <a:ln cap="flat" cmpd="sng" w="1015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6"/>
          <p:cNvSpPr/>
          <p:nvPr/>
        </p:nvSpPr>
        <p:spPr>
          <a:xfrm>
            <a:off x="6236208" y="3675888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CONSTRAINT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6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141B2A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"/>
          <p:cNvSpPr/>
          <p:nvPr/>
        </p:nvSpPr>
        <p:spPr>
          <a:xfrm>
            <a:off x="457200" y="4114800"/>
            <a:ext cx="54864" cy="6858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6"/>
          <p:cNvSpPr/>
          <p:nvPr/>
        </p:nvSpPr>
        <p:spPr>
          <a:xfrm>
            <a:off x="640080" y="416966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/>
          <p:nvPr/>
        </p:nvSpPr>
        <p:spPr>
          <a:xfrm>
            <a:off x="640080" y="4352544"/>
            <a:ext cx="7863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200"/>
              <a:buFont typeface="Calibri"/>
              <a:buNone/>
            </a:pPr>
            <a:r>
              <a:rPr b="0" i="0" lang="en" sz="12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The root cause is almost always in kernel/configd, not the app's own log. You must correlate ALL THREE sources simultaneously.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0" name="Google Shape;200;p17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1" name="Google Shape;201;p17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2" name="Google Shape;202;p17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3" name="Google Shape;203;p17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4" name="Google Shape;204;p17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5" name="Google Shape;205;p17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6" name="Google Shape;206;p17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7" name="Google Shape;207;p17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9" name="Google Shape;209;p17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0" name="Google Shape;210;p17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1" name="Google Shape;211;p17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17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17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17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5" name="Google Shape;215;p17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6" name="Google Shape;216;p17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7" name="Google Shape;217;p17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8" name="Google Shape;218;p17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9" name="Google Shape;219;p17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0" name="Google Shape;220;p17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1" name="Google Shape;221;p17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2" name="Google Shape;222;p17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3" name="Google Shape;223;p17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4" name="Google Shape;224;p17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5" name="Google Shape;225;p17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6" name="Google Shape;226;p17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17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8" name="Google Shape;228;p17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9" name="Google Shape;229;p17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0" name="Google Shape;230;p17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1" name="Google Shape;231;p17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2" name="Google Shape;232;p17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3" name="Google Shape;233;p17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4" name="Google Shape;234;p17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5" name="Google Shape;235;p17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6" name="Google Shape;236;p17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7" name="Google Shape;237;p17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8" name="Google Shape;238;p17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9" name="Google Shape;239;p17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0" name="Google Shape;240;p17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1" name="Google Shape;241;p17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7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01 — VISION &amp; EXTENT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7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Vision Roadmap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7"/>
          <p:cNvSpPr/>
          <p:nvPr/>
        </p:nvSpPr>
        <p:spPr>
          <a:xfrm>
            <a:off x="457200" y="105156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7"/>
          <p:cNvSpPr/>
          <p:nvPr/>
        </p:nvSpPr>
        <p:spPr>
          <a:xfrm>
            <a:off x="457200" y="1051560"/>
            <a:ext cx="1920240" cy="36576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457200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/>
          <p:nvPr/>
        </p:nvSpPr>
        <p:spPr>
          <a:xfrm>
            <a:off x="457200" y="164592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Log Sources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7"/>
          <p:cNvSpPr/>
          <p:nvPr/>
        </p:nvSpPr>
        <p:spPr>
          <a:xfrm>
            <a:off x="457200" y="181965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App·System·Crash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7"/>
          <p:cNvSpPr/>
          <p:nvPr/>
        </p:nvSpPr>
        <p:spPr>
          <a:xfrm>
            <a:off x="2633472" y="105156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7"/>
          <p:cNvSpPr/>
          <p:nvPr/>
        </p:nvSpPr>
        <p:spPr>
          <a:xfrm>
            <a:off x="2633472" y="1051560"/>
            <a:ext cx="192024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"/>
          <p:cNvSpPr/>
          <p:nvPr/>
        </p:nvSpPr>
        <p:spPr>
          <a:xfrm>
            <a:off x="2633472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7"/>
          <p:cNvSpPr/>
          <p:nvPr/>
        </p:nvSpPr>
        <p:spPr>
          <a:xfrm>
            <a:off x="2633472" y="164592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Signatures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7"/>
          <p:cNvSpPr/>
          <p:nvPr/>
        </p:nvSpPr>
        <p:spPr>
          <a:xfrm>
            <a:off x="2633472" y="181965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macOS patterns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7"/>
          <p:cNvSpPr/>
          <p:nvPr/>
        </p:nvSpPr>
        <p:spPr>
          <a:xfrm>
            <a:off x="4809744" y="105156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7"/>
          <p:cNvSpPr/>
          <p:nvPr/>
        </p:nvSpPr>
        <p:spPr>
          <a:xfrm>
            <a:off x="4809744" y="1051560"/>
            <a:ext cx="1920240" cy="36576"/>
          </a:xfrm>
          <a:prstGeom prst="rect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7"/>
          <p:cNvSpPr/>
          <p:nvPr/>
        </p:nvSpPr>
        <p:spPr>
          <a:xfrm>
            <a:off x="4809744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7"/>
          <p:cNvSpPr/>
          <p:nvPr/>
        </p:nvSpPr>
        <p:spPr>
          <a:xfrm>
            <a:off x="4809744" y="164592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Matched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7"/>
          <p:cNvSpPr/>
          <p:nvPr/>
        </p:nvSpPr>
        <p:spPr>
          <a:xfrm>
            <a:off x="4809744" y="181965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Sample incident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7"/>
          <p:cNvSpPr/>
          <p:nvPr/>
        </p:nvSpPr>
        <p:spPr>
          <a:xfrm>
            <a:off x="6986016" y="105156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7"/>
          <p:cNvSpPr/>
          <p:nvPr/>
        </p:nvSpPr>
        <p:spPr>
          <a:xfrm>
            <a:off x="6986016" y="1051560"/>
            <a:ext cx="1920240" cy="36576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17"/>
          <p:cNvSpPr/>
          <p:nvPr/>
        </p:nvSpPr>
        <p:spPr>
          <a:xfrm>
            <a:off x="6986016" y="11430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7"/>
          <p:cNvSpPr/>
          <p:nvPr/>
        </p:nvSpPr>
        <p:spPr>
          <a:xfrm>
            <a:off x="6986016" y="164592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7"/>
          <p:cNvSpPr/>
          <p:nvPr/>
        </p:nvSpPr>
        <p:spPr>
          <a:xfrm>
            <a:off x="6986016" y="181965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Behind 7 symptoms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7"/>
          <p:cNvSpPr/>
          <p:nvPr/>
        </p:nvSpPr>
        <p:spPr>
          <a:xfrm>
            <a:off x="457200" y="2377440"/>
            <a:ext cx="2651760" cy="24688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7"/>
          <p:cNvSpPr/>
          <p:nvPr/>
        </p:nvSpPr>
        <p:spPr>
          <a:xfrm>
            <a:off x="457200" y="2377440"/>
            <a:ext cx="265176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7"/>
          <p:cNvSpPr/>
          <p:nvPr/>
        </p:nvSpPr>
        <p:spPr>
          <a:xfrm>
            <a:off x="457200" y="2377440"/>
            <a:ext cx="502920" cy="365760"/>
          </a:xfrm>
          <a:prstGeom prst="rect">
            <a:avLst/>
          </a:prstGeom>
          <a:solidFill>
            <a:srgbClr val="28D47A">
              <a:alpha val="20000"/>
            </a:srgbClr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7"/>
          <p:cNvSpPr/>
          <p:nvPr/>
        </p:nvSpPr>
        <p:spPr>
          <a:xfrm>
            <a:off x="457200" y="23957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v1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7"/>
          <p:cNvSpPr/>
          <p:nvPr/>
        </p:nvSpPr>
        <p:spPr>
          <a:xfrm>
            <a:off x="566928" y="2816352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MacOS Specific 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7"/>
          <p:cNvSpPr/>
          <p:nvPr/>
        </p:nvSpPr>
        <p:spPr>
          <a:xfrm>
            <a:off x="566928" y="3108960"/>
            <a:ext cx="24323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Drop 3 log files → get root cause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8 macOS failure signatures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Offline / air-gapped operation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Auto-generated remediation playbook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7"/>
          <p:cNvSpPr/>
          <p:nvPr/>
        </p:nvSpPr>
        <p:spPr>
          <a:xfrm>
            <a:off x="566928" y="4645152"/>
            <a:ext cx="1280160" cy="201168"/>
          </a:xfrm>
          <a:prstGeom prst="rect">
            <a:avLst/>
          </a:prstGeom>
          <a:solidFill>
            <a:srgbClr val="28D47A">
              <a:alpha val="12156"/>
            </a:srgbClr>
          </a:solidFill>
          <a:ln cap="flat" cmpd="sng" w="101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7"/>
          <p:cNvSpPr/>
          <p:nvPr/>
        </p:nvSpPr>
        <p:spPr>
          <a:xfrm>
            <a:off x="566928" y="46451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TODAY — Built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7"/>
          <p:cNvSpPr/>
          <p:nvPr/>
        </p:nvSpPr>
        <p:spPr>
          <a:xfrm>
            <a:off x="3291840" y="2377440"/>
            <a:ext cx="2651760" cy="24688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7"/>
          <p:cNvSpPr/>
          <p:nvPr/>
        </p:nvSpPr>
        <p:spPr>
          <a:xfrm>
            <a:off x="3291840" y="2377440"/>
            <a:ext cx="265176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3291840" y="2377440"/>
            <a:ext cx="502920" cy="365760"/>
          </a:xfrm>
          <a:prstGeom prst="rect">
            <a:avLst/>
          </a:prstGeom>
          <a:solidFill>
            <a:srgbClr val="3AB8F5">
              <a:alpha val="20000"/>
            </a:srgbClr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7"/>
          <p:cNvSpPr/>
          <p:nvPr/>
        </p:nvSpPr>
        <p:spPr>
          <a:xfrm>
            <a:off x="3291840" y="23957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v2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7"/>
          <p:cNvSpPr/>
          <p:nvPr/>
        </p:nvSpPr>
        <p:spPr>
          <a:xfrm>
            <a:off x="3401568" y="2816352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Live Streaming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7"/>
          <p:cNvSpPr/>
          <p:nvPr/>
        </p:nvSpPr>
        <p:spPr>
          <a:xfrm>
            <a:off x="3401568" y="3108960"/>
            <a:ext cx="24323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SSH + log stream pipe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Real-time anomaly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Slack/PagerDuty alerting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Fleet-wide </a:t>
            </a:r>
            <a:r>
              <a:rPr lang="en" sz="1000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7"/>
          <p:cNvSpPr/>
          <p:nvPr/>
        </p:nvSpPr>
        <p:spPr>
          <a:xfrm>
            <a:off x="3401568" y="4645152"/>
            <a:ext cx="1280160" cy="201168"/>
          </a:xfrm>
          <a:prstGeom prst="rect">
            <a:avLst/>
          </a:prstGeom>
          <a:solidFill>
            <a:srgbClr val="3AB8F5">
              <a:alpha val="1215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7"/>
          <p:cNvSpPr/>
          <p:nvPr/>
        </p:nvSpPr>
        <p:spPr>
          <a:xfrm>
            <a:off x="3401568" y="46451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NEXT — Roadmap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/>
          <p:nvPr/>
        </p:nvSpPr>
        <p:spPr>
          <a:xfrm>
            <a:off x="6126480" y="2377440"/>
            <a:ext cx="2651760" cy="24688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"/>
          <p:cNvSpPr/>
          <p:nvPr/>
        </p:nvSpPr>
        <p:spPr>
          <a:xfrm>
            <a:off x="6126480" y="2377440"/>
            <a:ext cx="2651760" cy="54864"/>
          </a:xfrm>
          <a:prstGeom prst="rect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7"/>
          <p:cNvSpPr/>
          <p:nvPr/>
        </p:nvSpPr>
        <p:spPr>
          <a:xfrm>
            <a:off x="6126480" y="2377440"/>
            <a:ext cx="502920" cy="365760"/>
          </a:xfrm>
          <a:prstGeom prst="rect">
            <a:avLst/>
          </a:prstGeom>
          <a:solidFill>
            <a:srgbClr val="F07C3A">
              <a:alpha val="20000"/>
            </a:srgbClr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7"/>
          <p:cNvSpPr/>
          <p:nvPr/>
        </p:nvSpPr>
        <p:spPr>
          <a:xfrm>
            <a:off x="6126480" y="2395728"/>
            <a:ext cx="502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v3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7"/>
          <p:cNvSpPr/>
          <p:nvPr/>
        </p:nvSpPr>
        <p:spPr>
          <a:xfrm>
            <a:off x="6236208" y="2816352"/>
            <a:ext cx="243230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Self-Healing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6236208" y="3108960"/>
            <a:ext cx="2432304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Auto MDM remediation push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Re-sign plugins automatically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VPN config auto-push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40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Char char="•"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No engineer needed for known fixes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7"/>
          <p:cNvSpPr/>
          <p:nvPr/>
        </p:nvSpPr>
        <p:spPr>
          <a:xfrm>
            <a:off x="6236208" y="4645152"/>
            <a:ext cx="1280160" cy="201168"/>
          </a:xfrm>
          <a:prstGeom prst="rect">
            <a:avLst/>
          </a:prstGeom>
          <a:solidFill>
            <a:srgbClr val="F07C3A">
              <a:alpha val="12156"/>
            </a:srgbClr>
          </a:solidFill>
          <a:ln cap="flat" cmpd="sng" w="101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7"/>
          <p:cNvSpPr/>
          <p:nvPr/>
        </p:nvSpPr>
        <p:spPr>
          <a:xfrm>
            <a:off x="6236208" y="4645152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FUTURE — Vision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3" name="Google Shape;293;p18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4" name="Google Shape;294;p18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5" name="Google Shape;295;p18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6" name="Google Shape;296;p18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18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8" name="Google Shape;298;p18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9" name="Google Shape;299;p18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0" name="Google Shape;300;p18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18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2" name="Google Shape;302;p18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18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4" name="Google Shape;304;p18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5" name="Google Shape;305;p18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18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7" name="Google Shape;307;p18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8" name="Google Shape;308;p18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9" name="Google Shape;309;p18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0" name="Google Shape;310;p18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1" name="Google Shape;311;p18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2" name="Google Shape;312;p18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3" name="Google Shape;313;p18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4" name="Google Shape;314;p18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5" name="Google Shape;315;p18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6" name="Google Shape;316;p18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7" name="Google Shape;317;p18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8" name="Google Shape;318;p18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9" name="Google Shape;319;p18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0" name="Google Shape;320;p18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1" name="Google Shape;321;p18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2" name="Google Shape;322;p18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3" name="Google Shape;323;p18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4" name="Google Shape;324;p18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5" name="Google Shape;325;p18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6" name="Google Shape;326;p18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7" name="Google Shape;327;p18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8" name="Google Shape;328;p18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9" name="Google Shape;329;p18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0" name="Google Shape;330;p18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1" name="Google Shape;331;p18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2" name="Google Shape;332;p18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3" name="Google Shape;333;p18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4" name="Google Shape;334;p18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02 — CLAUDE AI + ASSUMPTIONS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8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Built with Claude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8"/>
          <p:cNvSpPr/>
          <p:nvPr/>
        </p:nvSpPr>
        <p:spPr>
          <a:xfrm>
            <a:off x="457200" y="1143000"/>
            <a:ext cx="4114800" cy="365760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8"/>
          <p:cNvSpPr/>
          <p:nvPr/>
        </p:nvSpPr>
        <p:spPr>
          <a:xfrm>
            <a:off x="457200" y="1143000"/>
            <a:ext cx="411480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8"/>
          <p:cNvSpPr/>
          <p:nvPr/>
        </p:nvSpPr>
        <p:spPr>
          <a:xfrm>
            <a:off x="594360" y="126187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HOW CLAUDE IS USED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8"/>
          <p:cNvSpPr/>
          <p:nvPr/>
        </p:nvSpPr>
        <p:spPr>
          <a:xfrm>
            <a:off x="566928" y="164592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8"/>
          <p:cNvSpPr/>
          <p:nvPr/>
        </p:nvSpPr>
        <p:spPr>
          <a:xfrm>
            <a:off x="566928" y="164592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8"/>
          <p:cNvSpPr/>
          <p:nvPr/>
        </p:nvSpPr>
        <p:spPr>
          <a:xfrm>
            <a:off x="868680" y="160020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Stage 4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8"/>
          <p:cNvSpPr/>
          <p:nvPr/>
        </p:nvSpPr>
        <p:spPr>
          <a:xfrm>
            <a:off x="868680" y="181965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Claude is used for synthesis, not detection. Regex handles pattern matching; Claude reasons over structured evidence.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8"/>
          <p:cNvSpPr/>
          <p:nvPr/>
        </p:nvSpPr>
        <p:spPr>
          <a:xfrm>
            <a:off x="566928" y="242316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8"/>
          <p:cNvSpPr/>
          <p:nvPr/>
        </p:nvSpPr>
        <p:spPr>
          <a:xfrm>
            <a:off x="566928" y="242316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8"/>
          <p:cNvSpPr/>
          <p:nvPr/>
        </p:nvSpPr>
        <p:spPr>
          <a:xfrm>
            <a:off x="868680" y="237744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Structured prompt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8"/>
          <p:cNvSpPr/>
          <p:nvPr/>
        </p:nvSpPr>
        <p:spPr>
          <a:xfrm>
            <a:off x="868680" y="259689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Sends matched signatures, error clusters, crash details → asks for ranked hypotheses + causal chain in JSON.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8"/>
          <p:cNvSpPr/>
          <p:nvPr/>
        </p:nvSpPr>
        <p:spPr>
          <a:xfrm>
            <a:off x="566928" y="320040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8"/>
          <p:cNvSpPr/>
          <p:nvPr/>
        </p:nvSpPr>
        <p:spPr>
          <a:xfrm>
            <a:off x="566928" y="3200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8"/>
          <p:cNvSpPr/>
          <p:nvPr/>
        </p:nvSpPr>
        <p:spPr>
          <a:xfrm>
            <a:off x="868680" y="315468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Rule-based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8"/>
          <p:cNvSpPr/>
          <p:nvPr/>
        </p:nvSpPr>
        <p:spPr>
          <a:xfrm>
            <a:off x="868680" y="337413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If no API key or network fails, _fallback_analysis() produces identical output structure offline.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8"/>
          <p:cNvSpPr/>
          <p:nvPr/>
        </p:nvSpPr>
        <p:spPr>
          <a:xfrm>
            <a:off x="566928" y="3977640"/>
            <a:ext cx="201168" cy="201168"/>
          </a:xfrm>
          <a:prstGeom prst="ellipse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8"/>
          <p:cNvSpPr/>
          <p:nvPr/>
        </p:nvSpPr>
        <p:spPr>
          <a:xfrm>
            <a:off x="566928" y="397764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8"/>
          <p:cNvSpPr/>
          <p:nvPr/>
        </p:nvSpPr>
        <p:spPr>
          <a:xfrm>
            <a:off x="868680" y="3931920"/>
            <a:ext cx="356616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Model: claude-sonnet-4-6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8"/>
          <p:cNvSpPr/>
          <p:nvPr/>
        </p:nvSpPr>
        <p:spPr>
          <a:xfrm>
            <a:off x="868680" y="4151376"/>
            <a:ext cx="35661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Fast, cost-efficient, reliable JSON output. Used after 3 rule-based stages pre-filter the noise.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8"/>
          <p:cNvSpPr/>
          <p:nvPr/>
        </p:nvSpPr>
        <p:spPr>
          <a:xfrm>
            <a:off x="4754880" y="1143000"/>
            <a:ext cx="3931920" cy="365760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8"/>
          <p:cNvSpPr/>
          <p:nvPr/>
        </p:nvSpPr>
        <p:spPr>
          <a:xfrm>
            <a:off x="4754880" y="1143000"/>
            <a:ext cx="3931920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8"/>
          <p:cNvSpPr/>
          <p:nvPr/>
        </p:nvSpPr>
        <p:spPr>
          <a:xfrm>
            <a:off x="4892040" y="1261872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ASSUMPTIONS REGISTER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8"/>
          <p:cNvSpPr/>
          <p:nvPr/>
        </p:nvSpPr>
        <p:spPr>
          <a:xfrm>
            <a:off x="4864608" y="1645920"/>
            <a:ext cx="128016" cy="128016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8"/>
          <p:cNvSpPr/>
          <p:nvPr/>
        </p:nvSpPr>
        <p:spPr>
          <a:xfrm>
            <a:off x="5074920" y="157276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App uses structured logging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8"/>
          <p:cNvSpPr/>
          <p:nvPr/>
        </p:nvSpPr>
        <p:spPr>
          <a:xfrm>
            <a:off x="7882128" y="1618488"/>
            <a:ext cx="694944" cy="182880"/>
          </a:xfrm>
          <a:prstGeom prst="rect">
            <a:avLst/>
          </a:prstGeom>
          <a:solidFill>
            <a:srgbClr val="28D47A">
              <a:alpha val="14901"/>
            </a:srgbClr>
          </a:solidFill>
          <a:ln cap="flat" cmpd="sng" w="9525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18"/>
          <p:cNvSpPr/>
          <p:nvPr/>
        </p:nvSpPr>
        <p:spPr>
          <a:xfrm>
            <a:off x="7882128" y="161848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8"/>
          <p:cNvSpPr/>
          <p:nvPr/>
        </p:nvSpPr>
        <p:spPr>
          <a:xfrm>
            <a:off x="4864608" y="1965960"/>
            <a:ext cx="128016" cy="128016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8"/>
          <p:cNvSpPr/>
          <p:nvPr/>
        </p:nvSpPr>
        <p:spPr>
          <a:xfrm>
            <a:off x="5074920" y="189280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macOS system log is available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8"/>
          <p:cNvSpPr/>
          <p:nvPr/>
        </p:nvSpPr>
        <p:spPr>
          <a:xfrm>
            <a:off x="7882128" y="1938528"/>
            <a:ext cx="694944" cy="182880"/>
          </a:xfrm>
          <a:prstGeom prst="rect">
            <a:avLst/>
          </a:prstGeom>
          <a:solidFill>
            <a:srgbClr val="28D47A">
              <a:alpha val="14901"/>
            </a:srgbClr>
          </a:solidFill>
          <a:ln cap="flat" cmpd="sng" w="9525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8"/>
          <p:cNvSpPr/>
          <p:nvPr/>
        </p:nvSpPr>
        <p:spPr>
          <a:xfrm>
            <a:off x="7882128" y="193852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KNOWN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8"/>
          <p:cNvSpPr/>
          <p:nvPr/>
        </p:nvSpPr>
        <p:spPr>
          <a:xfrm>
            <a:off x="4864608" y="2286000"/>
            <a:ext cx="128016" cy="12801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"/>
          <p:cNvSpPr/>
          <p:nvPr/>
        </p:nvSpPr>
        <p:spPr>
          <a:xfrm>
            <a:off x="5074920" y="22128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Logs complete &amp; un-truncated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8"/>
          <p:cNvSpPr/>
          <p:nvPr/>
        </p:nvSpPr>
        <p:spPr>
          <a:xfrm>
            <a:off x="7882128" y="2258568"/>
            <a:ext cx="694944" cy="182880"/>
          </a:xfrm>
          <a:prstGeom prst="rect">
            <a:avLst/>
          </a:prstGeom>
          <a:solidFill>
            <a:srgbClr val="E8B84B">
              <a:alpha val="14901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8"/>
          <p:cNvSpPr/>
          <p:nvPr/>
        </p:nvSpPr>
        <p:spPr>
          <a:xfrm>
            <a:off x="7882128" y="225856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ASSUMED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/>
          <p:nvPr/>
        </p:nvSpPr>
        <p:spPr>
          <a:xfrm>
            <a:off x="4864608" y="2606040"/>
            <a:ext cx="128016" cy="12801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8"/>
          <p:cNvSpPr/>
          <p:nvPr/>
        </p:nvSpPr>
        <p:spPr>
          <a:xfrm>
            <a:off x="5074920" y="253288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Timestamps are synchronized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8"/>
          <p:cNvSpPr/>
          <p:nvPr/>
        </p:nvSpPr>
        <p:spPr>
          <a:xfrm>
            <a:off x="7882128" y="2578608"/>
            <a:ext cx="694944" cy="182880"/>
          </a:xfrm>
          <a:prstGeom prst="rect">
            <a:avLst/>
          </a:prstGeom>
          <a:solidFill>
            <a:srgbClr val="E8B84B">
              <a:alpha val="14901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8"/>
          <p:cNvSpPr/>
          <p:nvPr/>
        </p:nvSpPr>
        <p:spPr>
          <a:xfrm>
            <a:off x="7882128" y="257860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ASSUMED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/>
          <p:nvPr/>
        </p:nvSpPr>
        <p:spPr>
          <a:xfrm>
            <a:off x="4864608" y="2926080"/>
            <a:ext cx="128016" cy="128016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8"/>
          <p:cNvSpPr/>
          <p:nvPr/>
        </p:nvSpPr>
        <p:spPr>
          <a:xfrm>
            <a:off x="5074920" y="285292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Failure is reproducible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>
            <a:off x="7882128" y="2898648"/>
            <a:ext cx="694944" cy="182880"/>
          </a:xfrm>
          <a:prstGeom prst="rect">
            <a:avLst/>
          </a:prstGeom>
          <a:solidFill>
            <a:srgbClr val="E8B84B">
              <a:alpha val="14901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8"/>
          <p:cNvSpPr/>
          <p:nvPr/>
        </p:nvSpPr>
        <p:spPr>
          <a:xfrm>
            <a:off x="7882128" y="289864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ASSUMED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4864608" y="3246120"/>
            <a:ext cx="128016" cy="128016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8"/>
          <p:cNvSpPr/>
          <p:nvPr/>
        </p:nvSpPr>
        <p:spPr>
          <a:xfrm>
            <a:off x="5074920" y="317296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App version matches parser format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/>
          <p:nvPr/>
        </p:nvSpPr>
        <p:spPr>
          <a:xfrm>
            <a:off x="7882128" y="3218688"/>
            <a:ext cx="694944" cy="182880"/>
          </a:xfrm>
          <a:prstGeom prst="rect">
            <a:avLst/>
          </a:prstGeom>
          <a:solidFill>
            <a:srgbClr val="E84545">
              <a:alpha val="14901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8"/>
          <p:cNvSpPr/>
          <p:nvPr/>
        </p:nvSpPr>
        <p:spPr>
          <a:xfrm>
            <a:off x="7882128" y="321868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18"/>
          <p:cNvSpPr/>
          <p:nvPr/>
        </p:nvSpPr>
        <p:spPr>
          <a:xfrm>
            <a:off x="4864608" y="3566160"/>
            <a:ext cx="128016" cy="128016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8"/>
          <p:cNvSpPr/>
          <p:nvPr/>
        </p:nvSpPr>
        <p:spPr>
          <a:xfrm>
            <a:off x="5074920" y="349300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AI output may be confidently wrong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8"/>
          <p:cNvSpPr/>
          <p:nvPr/>
        </p:nvSpPr>
        <p:spPr>
          <a:xfrm>
            <a:off x="7882128" y="3538728"/>
            <a:ext cx="694944" cy="182880"/>
          </a:xfrm>
          <a:prstGeom prst="rect">
            <a:avLst/>
          </a:prstGeom>
          <a:solidFill>
            <a:srgbClr val="E84545">
              <a:alpha val="14901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18"/>
          <p:cNvSpPr/>
          <p:nvPr/>
        </p:nvSpPr>
        <p:spPr>
          <a:xfrm>
            <a:off x="7882128" y="353872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8"/>
          <p:cNvSpPr/>
          <p:nvPr/>
        </p:nvSpPr>
        <p:spPr>
          <a:xfrm>
            <a:off x="4864608" y="3886200"/>
            <a:ext cx="128016" cy="128016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8"/>
          <p:cNvSpPr/>
          <p:nvPr/>
        </p:nvSpPr>
        <p:spPr>
          <a:xfrm>
            <a:off x="5074920" y="3813048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8 sigs cover all failure modes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8"/>
          <p:cNvSpPr/>
          <p:nvPr/>
        </p:nvSpPr>
        <p:spPr>
          <a:xfrm>
            <a:off x="7882128" y="3858768"/>
            <a:ext cx="694944" cy="182880"/>
          </a:xfrm>
          <a:prstGeom prst="rect">
            <a:avLst/>
          </a:prstGeom>
          <a:solidFill>
            <a:srgbClr val="E84545">
              <a:alpha val="14901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8"/>
          <p:cNvSpPr/>
          <p:nvPr/>
        </p:nvSpPr>
        <p:spPr>
          <a:xfrm>
            <a:off x="7882128" y="3858768"/>
            <a:ext cx="694944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RISK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6" name="Google Shape;396;p19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7" name="Google Shape;397;p19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8" name="Google Shape;398;p19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19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0" name="Google Shape;400;p19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1" name="Google Shape;401;p19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2" name="Google Shape;402;p19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3" name="Google Shape;403;p19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19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19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19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19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8" name="Google Shape;408;p19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9" name="Google Shape;409;p19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0" name="Google Shape;410;p19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1" name="Google Shape;411;p19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2" name="Google Shape;412;p19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3" name="Google Shape;413;p19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4" name="Google Shape;414;p19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5" name="Google Shape;415;p19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6" name="Google Shape;416;p19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7" name="Google Shape;417;p19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8" name="Google Shape;418;p19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9" name="Google Shape;419;p19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0" name="Google Shape;420;p19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1" name="Google Shape;421;p19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2" name="Google Shape;422;p19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3" name="Google Shape;423;p19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4" name="Google Shape;424;p19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5" name="Google Shape;425;p19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19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19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8" name="Google Shape;428;p19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9" name="Google Shape;429;p19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0" name="Google Shape;430;p19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1" name="Google Shape;431;p19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2" name="Google Shape;432;p19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3" name="Google Shape;433;p19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4" name="Google Shape;434;p19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5" name="Google Shape;435;p19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6" name="Google Shape;436;p19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7" name="Google Shape;437;p19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9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03 — ARCHITECTURE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9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4-Stage Analysis Pipeline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9"/>
          <p:cNvSpPr/>
          <p:nvPr/>
        </p:nvSpPr>
        <p:spPr>
          <a:xfrm>
            <a:off x="274320" y="1188720"/>
            <a:ext cx="1463040" cy="1280160"/>
          </a:xfrm>
          <a:prstGeom prst="rect">
            <a:avLst/>
          </a:prstGeom>
          <a:solidFill>
            <a:srgbClr val="141B2A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9"/>
          <p:cNvSpPr/>
          <p:nvPr/>
        </p:nvSpPr>
        <p:spPr>
          <a:xfrm>
            <a:off x="274320" y="1188720"/>
            <a:ext cx="1463040" cy="45720"/>
          </a:xfrm>
          <a:prstGeom prst="rect">
            <a:avLst/>
          </a:prstGeom>
          <a:solidFill>
            <a:srgbClr val="8896B0"/>
          </a:solidFill>
          <a:ln cap="flat" cmpd="sng" w="1270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9"/>
          <p:cNvSpPr/>
          <p:nvPr/>
        </p:nvSpPr>
        <p:spPr>
          <a:xfrm>
            <a:off x="274320" y="1298448"/>
            <a:ext cx="1463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Calibri"/>
              <a:buNone/>
            </a:pPr>
            <a:r>
              <a:rPr b="0" i="0" lang="en" sz="2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📂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9"/>
          <p:cNvSpPr/>
          <p:nvPr/>
        </p:nvSpPr>
        <p:spPr>
          <a:xfrm>
            <a:off x="274320" y="1737360"/>
            <a:ext cx="1463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3 LOG 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9"/>
          <p:cNvSpPr/>
          <p:nvPr/>
        </p:nvSpPr>
        <p:spPr>
          <a:xfrm>
            <a:off x="274320" y="193852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1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app · system · crash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" name="Google Shape;445;p19"/>
          <p:cNvCxnSpPr/>
          <p:nvPr/>
        </p:nvCxnSpPr>
        <p:spPr>
          <a:xfrm>
            <a:off x="274320" y="11887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6" name="Google Shape;446;p19"/>
          <p:cNvCxnSpPr/>
          <p:nvPr/>
        </p:nvCxnSpPr>
        <p:spPr>
          <a:xfrm>
            <a:off x="274320" y="118872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7" name="Google Shape;447;p19"/>
          <p:cNvCxnSpPr/>
          <p:nvPr/>
        </p:nvCxnSpPr>
        <p:spPr>
          <a:xfrm>
            <a:off x="1572768" y="11887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8" name="Google Shape;448;p19"/>
          <p:cNvCxnSpPr/>
          <p:nvPr/>
        </p:nvCxnSpPr>
        <p:spPr>
          <a:xfrm>
            <a:off x="1737360" y="118872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9" name="Google Shape;449;p19"/>
          <p:cNvCxnSpPr/>
          <p:nvPr/>
        </p:nvCxnSpPr>
        <p:spPr>
          <a:xfrm>
            <a:off x="274320" y="23042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19"/>
          <p:cNvCxnSpPr/>
          <p:nvPr/>
        </p:nvCxnSpPr>
        <p:spPr>
          <a:xfrm>
            <a:off x="274320" y="24688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1" name="Google Shape;451;p19"/>
          <p:cNvCxnSpPr/>
          <p:nvPr/>
        </p:nvCxnSpPr>
        <p:spPr>
          <a:xfrm>
            <a:off x="1572768" y="24688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2" name="Google Shape;452;p19"/>
          <p:cNvCxnSpPr/>
          <p:nvPr/>
        </p:nvCxnSpPr>
        <p:spPr>
          <a:xfrm>
            <a:off x="1737360" y="23042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896B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3" name="Google Shape;453;p19"/>
          <p:cNvCxnSpPr/>
          <p:nvPr/>
        </p:nvCxnSpPr>
        <p:spPr>
          <a:xfrm>
            <a:off x="1737360" y="1828800"/>
            <a:ext cx="320040" cy="0"/>
          </a:xfrm>
          <a:prstGeom prst="straightConnector1">
            <a:avLst/>
          </a:prstGeom>
          <a:noFill/>
          <a:ln cap="flat" cmpd="sng" w="254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4" name="Google Shape;454;p19"/>
          <p:cNvSpPr/>
          <p:nvPr/>
        </p:nvSpPr>
        <p:spPr>
          <a:xfrm>
            <a:off x="1993392" y="175564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9"/>
          <p:cNvSpPr/>
          <p:nvPr/>
        </p:nvSpPr>
        <p:spPr>
          <a:xfrm>
            <a:off x="2240280" y="1097280"/>
            <a:ext cx="1627632" cy="182880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9"/>
          <p:cNvSpPr/>
          <p:nvPr/>
        </p:nvSpPr>
        <p:spPr>
          <a:xfrm>
            <a:off x="2240280" y="1097280"/>
            <a:ext cx="1627632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9"/>
          <p:cNvSpPr/>
          <p:nvPr/>
        </p:nvSpPr>
        <p:spPr>
          <a:xfrm>
            <a:off x="2240280" y="1097280"/>
            <a:ext cx="457200" cy="347472"/>
          </a:xfrm>
          <a:prstGeom prst="rect">
            <a:avLst/>
          </a:prstGeom>
          <a:solidFill>
            <a:srgbClr val="3AB8F5">
              <a:alpha val="18039"/>
            </a:srgbClr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9"/>
          <p:cNvSpPr/>
          <p:nvPr/>
        </p:nvSpPr>
        <p:spPr>
          <a:xfrm>
            <a:off x="2240280" y="11155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9"/>
          <p:cNvSpPr/>
          <p:nvPr/>
        </p:nvSpPr>
        <p:spPr>
          <a:xfrm>
            <a:off x="2240280" y="1508760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📥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9"/>
          <p:cNvSpPr/>
          <p:nvPr/>
        </p:nvSpPr>
        <p:spPr>
          <a:xfrm>
            <a:off x="2331720" y="19659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PARSE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9"/>
          <p:cNvSpPr/>
          <p:nvPr/>
        </p:nvSpPr>
        <p:spPr>
          <a:xfrm>
            <a:off x="2313432" y="2212848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Unify 3 formats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into 1 timeline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2" name="Google Shape;462;p19"/>
          <p:cNvCxnSpPr/>
          <p:nvPr/>
        </p:nvCxnSpPr>
        <p:spPr>
          <a:xfrm>
            <a:off x="3867912" y="2011680"/>
            <a:ext cx="338328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3" name="Google Shape;463;p19"/>
          <p:cNvSpPr/>
          <p:nvPr/>
        </p:nvSpPr>
        <p:spPr>
          <a:xfrm>
            <a:off x="4160520" y="193852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4" name="Google Shape;464;p19"/>
          <p:cNvCxnSpPr/>
          <p:nvPr/>
        </p:nvCxnSpPr>
        <p:spPr>
          <a:xfrm>
            <a:off x="224028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5" name="Google Shape;465;p19"/>
          <p:cNvCxnSpPr/>
          <p:nvPr/>
        </p:nvCxnSpPr>
        <p:spPr>
          <a:xfrm>
            <a:off x="2240280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19"/>
          <p:cNvCxnSpPr/>
          <p:nvPr/>
        </p:nvCxnSpPr>
        <p:spPr>
          <a:xfrm>
            <a:off x="370332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19"/>
          <p:cNvCxnSpPr/>
          <p:nvPr/>
        </p:nvCxnSpPr>
        <p:spPr>
          <a:xfrm>
            <a:off x="3867912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8" name="Google Shape;468;p19"/>
          <p:cNvCxnSpPr/>
          <p:nvPr/>
        </p:nvCxnSpPr>
        <p:spPr>
          <a:xfrm>
            <a:off x="2240280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9" name="Google Shape;469;p19"/>
          <p:cNvCxnSpPr/>
          <p:nvPr/>
        </p:nvCxnSpPr>
        <p:spPr>
          <a:xfrm>
            <a:off x="224028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0" name="Google Shape;470;p19"/>
          <p:cNvCxnSpPr/>
          <p:nvPr/>
        </p:nvCxnSpPr>
        <p:spPr>
          <a:xfrm>
            <a:off x="370332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1" name="Google Shape;471;p19"/>
          <p:cNvCxnSpPr/>
          <p:nvPr/>
        </p:nvCxnSpPr>
        <p:spPr>
          <a:xfrm>
            <a:off x="3867912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2" name="Google Shape;472;p19"/>
          <p:cNvSpPr/>
          <p:nvPr/>
        </p:nvSpPr>
        <p:spPr>
          <a:xfrm>
            <a:off x="4023360" y="1097280"/>
            <a:ext cx="1627632" cy="182880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9"/>
          <p:cNvSpPr/>
          <p:nvPr/>
        </p:nvSpPr>
        <p:spPr>
          <a:xfrm>
            <a:off x="4023360" y="1097280"/>
            <a:ext cx="1627632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9"/>
          <p:cNvSpPr/>
          <p:nvPr/>
        </p:nvSpPr>
        <p:spPr>
          <a:xfrm>
            <a:off x="4023360" y="1097280"/>
            <a:ext cx="457200" cy="347472"/>
          </a:xfrm>
          <a:prstGeom prst="rect">
            <a:avLst/>
          </a:prstGeom>
          <a:solidFill>
            <a:srgbClr val="E8B84B">
              <a:alpha val="18039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19"/>
          <p:cNvSpPr/>
          <p:nvPr/>
        </p:nvSpPr>
        <p:spPr>
          <a:xfrm>
            <a:off x="4023360" y="11155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9"/>
          <p:cNvSpPr/>
          <p:nvPr/>
        </p:nvSpPr>
        <p:spPr>
          <a:xfrm>
            <a:off x="4023360" y="1508760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9"/>
          <p:cNvSpPr/>
          <p:nvPr/>
        </p:nvSpPr>
        <p:spPr>
          <a:xfrm>
            <a:off x="4114800" y="19659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CLUSTER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9"/>
          <p:cNvSpPr/>
          <p:nvPr/>
        </p:nvSpPr>
        <p:spPr>
          <a:xfrm>
            <a:off x="4096512" y="2212848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Fingerprint &amp;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group errors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9" name="Google Shape;479;p19"/>
          <p:cNvCxnSpPr/>
          <p:nvPr/>
        </p:nvCxnSpPr>
        <p:spPr>
          <a:xfrm>
            <a:off x="5650992" y="2011680"/>
            <a:ext cx="338328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0" name="Google Shape;480;p19"/>
          <p:cNvSpPr/>
          <p:nvPr/>
        </p:nvSpPr>
        <p:spPr>
          <a:xfrm>
            <a:off x="5943600" y="193852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81" name="Google Shape;481;p19"/>
          <p:cNvCxnSpPr/>
          <p:nvPr/>
        </p:nvCxnSpPr>
        <p:spPr>
          <a:xfrm>
            <a:off x="402336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2" name="Google Shape;482;p19"/>
          <p:cNvCxnSpPr/>
          <p:nvPr/>
        </p:nvCxnSpPr>
        <p:spPr>
          <a:xfrm>
            <a:off x="4023360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3" name="Google Shape;483;p19"/>
          <p:cNvCxnSpPr/>
          <p:nvPr/>
        </p:nvCxnSpPr>
        <p:spPr>
          <a:xfrm>
            <a:off x="548640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4" name="Google Shape;484;p19"/>
          <p:cNvCxnSpPr/>
          <p:nvPr/>
        </p:nvCxnSpPr>
        <p:spPr>
          <a:xfrm>
            <a:off x="5650992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5" name="Google Shape;485;p19"/>
          <p:cNvCxnSpPr/>
          <p:nvPr/>
        </p:nvCxnSpPr>
        <p:spPr>
          <a:xfrm>
            <a:off x="4023360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6" name="Google Shape;486;p19"/>
          <p:cNvCxnSpPr/>
          <p:nvPr/>
        </p:nvCxnSpPr>
        <p:spPr>
          <a:xfrm>
            <a:off x="402336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19"/>
          <p:cNvCxnSpPr/>
          <p:nvPr/>
        </p:nvCxnSpPr>
        <p:spPr>
          <a:xfrm>
            <a:off x="548640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19"/>
          <p:cNvCxnSpPr/>
          <p:nvPr/>
        </p:nvCxnSpPr>
        <p:spPr>
          <a:xfrm>
            <a:off x="5650992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9" name="Google Shape;489;p19"/>
          <p:cNvSpPr/>
          <p:nvPr/>
        </p:nvSpPr>
        <p:spPr>
          <a:xfrm>
            <a:off x="5806440" y="1097280"/>
            <a:ext cx="1627632" cy="182880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9"/>
          <p:cNvSpPr/>
          <p:nvPr/>
        </p:nvSpPr>
        <p:spPr>
          <a:xfrm>
            <a:off x="5806440" y="1097280"/>
            <a:ext cx="1627632" cy="54864"/>
          </a:xfrm>
          <a:prstGeom prst="rect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9"/>
          <p:cNvSpPr/>
          <p:nvPr/>
        </p:nvSpPr>
        <p:spPr>
          <a:xfrm>
            <a:off x="5806440" y="1097280"/>
            <a:ext cx="457200" cy="347472"/>
          </a:xfrm>
          <a:prstGeom prst="rect">
            <a:avLst/>
          </a:prstGeom>
          <a:solidFill>
            <a:srgbClr val="F07C3A">
              <a:alpha val="18039"/>
            </a:srgbClr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9"/>
          <p:cNvSpPr/>
          <p:nvPr/>
        </p:nvSpPr>
        <p:spPr>
          <a:xfrm>
            <a:off x="5806440" y="11155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9"/>
          <p:cNvSpPr/>
          <p:nvPr/>
        </p:nvSpPr>
        <p:spPr>
          <a:xfrm>
            <a:off x="5806440" y="1508760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9"/>
          <p:cNvSpPr/>
          <p:nvPr/>
        </p:nvSpPr>
        <p:spPr>
          <a:xfrm>
            <a:off x="5897880" y="19659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19"/>
          <p:cNvSpPr/>
          <p:nvPr/>
        </p:nvSpPr>
        <p:spPr>
          <a:xfrm>
            <a:off x="5879592" y="2212848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8 macOS failure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signatures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6" name="Google Shape;496;p19"/>
          <p:cNvCxnSpPr/>
          <p:nvPr/>
        </p:nvCxnSpPr>
        <p:spPr>
          <a:xfrm>
            <a:off x="7434072" y="2011680"/>
            <a:ext cx="338328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19"/>
          <p:cNvSpPr/>
          <p:nvPr/>
        </p:nvSpPr>
        <p:spPr>
          <a:xfrm>
            <a:off x="7726680" y="1938528"/>
            <a:ext cx="16459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▶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98" name="Google Shape;498;p19"/>
          <p:cNvCxnSpPr/>
          <p:nvPr/>
        </p:nvCxnSpPr>
        <p:spPr>
          <a:xfrm>
            <a:off x="580644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9" name="Google Shape;499;p19"/>
          <p:cNvCxnSpPr/>
          <p:nvPr/>
        </p:nvCxnSpPr>
        <p:spPr>
          <a:xfrm>
            <a:off x="5806440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0" name="Google Shape;500;p19"/>
          <p:cNvCxnSpPr/>
          <p:nvPr/>
        </p:nvCxnSpPr>
        <p:spPr>
          <a:xfrm>
            <a:off x="726948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1" name="Google Shape;501;p19"/>
          <p:cNvCxnSpPr/>
          <p:nvPr/>
        </p:nvCxnSpPr>
        <p:spPr>
          <a:xfrm>
            <a:off x="7434072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2" name="Google Shape;502;p19"/>
          <p:cNvCxnSpPr/>
          <p:nvPr/>
        </p:nvCxnSpPr>
        <p:spPr>
          <a:xfrm>
            <a:off x="5806440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3" name="Google Shape;503;p19"/>
          <p:cNvCxnSpPr/>
          <p:nvPr/>
        </p:nvCxnSpPr>
        <p:spPr>
          <a:xfrm>
            <a:off x="580644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19"/>
          <p:cNvCxnSpPr/>
          <p:nvPr/>
        </p:nvCxnSpPr>
        <p:spPr>
          <a:xfrm>
            <a:off x="726948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19"/>
          <p:cNvCxnSpPr/>
          <p:nvPr/>
        </p:nvCxnSpPr>
        <p:spPr>
          <a:xfrm>
            <a:off x="7434072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6" name="Google Shape;506;p19"/>
          <p:cNvSpPr/>
          <p:nvPr/>
        </p:nvSpPr>
        <p:spPr>
          <a:xfrm>
            <a:off x="7589520" y="1097280"/>
            <a:ext cx="1627632" cy="182880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9"/>
          <p:cNvSpPr/>
          <p:nvPr/>
        </p:nvSpPr>
        <p:spPr>
          <a:xfrm>
            <a:off x="7589520" y="1097280"/>
            <a:ext cx="1627632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9"/>
          <p:cNvSpPr/>
          <p:nvPr/>
        </p:nvSpPr>
        <p:spPr>
          <a:xfrm>
            <a:off x="7589520" y="1097280"/>
            <a:ext cx="457200" cy="347472"/>
          </a:xfrm>
          <a:prstGeom prst="rect">
            <a:avLst/>
          </a:prstGeom>
          <a:solidFill>
            <a:srgbClr val="8B5CF6">
              <a:alpha val="18039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9"/>
          <p:cNvSpPr/>
          <p:nvPr/>
        </p:nvSpPr>
        <p:spPr>
          <a:xfrm>
            <a:off x="7589520" y="111556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19"/>
          <p:cNvSpPr/>
          <p:nvPr/>
        </p:nvSpPr>
        <p:spPr>
          <a:xfrm>
            <a:off x="7589520" y="1508760"/>
            <a:ext cx="162763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🧠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9"/>
          <p:cNvSpPr/>
          <p:nvPr/>
        </p:nvSpPr>
        <p:spPr>
          <a:xfrm>
            <a:off x="7680960" y="1965960"/>
            <a:ext cx="1444752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REASON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9"/>
          <p:cNvSpPr/>
          <p:nvPr/>
        </p:nvSpPr>
        <p:spPr>
          <a:xfrm>
            <a:off x="7662672" y="2212848"/>
            <a:ext cx="1481328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Claude: causal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chain synthesis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19"/>
          <p:cNvCxnSpPr/>
          <p:nvPr/>
        </p:nvCxnSpPr>
        <p:spPr>
          <a:xfrm>
            <a:off x="758952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4" name="Google Shape;514;p19"/>
          <p:cNvCxnSpPr/>
          <p:nvPr/>
        </p:nvCxnSpPr>
        <p:spPr>
          <a:xfrm>
            <a:off x="7589520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5" name="Google Shape;515;p19"/>
          <p:cNvCxnSpPr/>
          <p:nvPr/>
        </p:nvCxnSpPr>
        <p:spPr>
          <a:xfrm>
            <a:off x="9052560" y="10972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6" name="Google Shape;516;p19"/>
          <p:cNvCxnSpPr/>
          <p:nvPr/>
        </p:nvCxnSpPr>
        <p:spPr>
          <a:xfrm>
            <a:off x="9217152" y="109728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7" name="Google Shape;517;p19"/>
          <p:cNvCxnSpPr/>
          <p:nvPr/>
        </p:nvCxnSpPr>
        <p:spPr>
          <a:xfrm>
            <a:off x="7589520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8" name="Google Shape;518;p19"/>
          <p:cNvCxnSpPr/>
          <p:nvPr/>
        </p:nvCxnSpPr>
        <p:spPr>
          <a:xfrm>
            <a:off x="758952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19" name="Google Shape;519;p19"/>
          <p:cNvCxnSpPr/>
          <p:nvPr/>
        </p:nvCxnSpPr>
        <p:spPr>
          <a:xfrm>
            <a:off x="9052560" y="292608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0" name="Google Shape;520;p19"/>
          <p:cNvCxnSpPr/>
          <p:nvPr/>
        </p:nvCxnSpPr>
        <p:spPr>
          <a:xfrm>
            <a:off x="9217152" y="276148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1" name="Google Shape;521;p19"/>
          <p:cNvSpPr/>
          <p:nvPr/>
        </p:nvSpPr>
        <p:spPr>
          <a:xfrm>
            <a:off x="274320" y="3154680"/>
            <a:ext cx="8595360" cy="1691640"/>
          </a:xfrm>
          <a:prstGeom prst="rect">
            <a:avLst/>
          </a:prstGeom>
          <a:solidFill>
            <a:srgbClr val="141B2A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19"/>
          <p:cNvSpPr/>
          <p:nvPr/>
        </p:nvSpPr>
        <p:spPr>
          <a:xfrm>
            <a:off x="274320" y="3154680"/>
            <a:ext cx="8595360" cy="45720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19"/>
          <p:cNvSpPr/>
          <p:nvPr/>
        </p:nvSpPr>
        <p:spPr>
          <a:xfrm>
            <a:off x="457200" y="3255264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📊  ANALYSIS OUTPUT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19"/>
          <p:cNvSpPr/>
          <p:nvPr/>
        </p:nvSpPr>
        <p:spPr>
          <a:xfrm>
            <a:off x="411480" y="3566160"/>
            <a:ext cx="1298448" cy="11704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19"/>
          <p:cNvSpPr/>
          <p:nvPr/>
        </p:nvSpPr>
        <p:spPr>
          <a:xfrm>
            <a:off x="411480" y="361188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9"/>
          <p:cNvSpPr/>
          <p:nvPr/>
        </p:nvSpPr>
        <p:spPr>
          <a:xfrm>
            <a:off x="457200" y="4005072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Root Cause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Hypotheses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9"/>
          <p:cNvSpPr/>
          <p:nvPr/>
        </p:nvSpPr>
        <p:spPr>
          <a:xfrm>
            <a:off x="1828800" y="3566160"/>
            <a:ext cx="1298448" cy="11704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9"/>
          <p:cNvSpPr/>
          <p:nvPr/>
        </p:nvSpPr>
        <p:spPr>
          <a:xfrm>
            <a:off x="1828800" y="361188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⛓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9"/>
          <p:cNvSpPr/>
          <p:nvPr/>
        </p:nvSpPr>
        <p:spPr>
          <a:xfrm>
            <a:off x="1874520" y="4005072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Causal Chain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lang="en" sz="850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(cascade issue)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9"/>
          <p:cNvSpPr/>
          <p:nvPr/>
        </p:nvSpPr>
        <p:spPr>
          <a:xfrm>
            <a:off x="3246120" y="3566160"/>
            <a:ext cx="1298448" cy="11704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1" name="Google Shape;531;p19"/>
          <p:cNvSpPr/>
          <p:nvPr/>
        </p:nvSpPr>
        <p:spPr>
          <a:xfrm>
            <a:off x="3246120" y="361188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⚡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9"/>
          <p:cNvSpPr/>
          <p:nvPr/>
        </p:nvSpPr>
        <p:spPr>
          <a:xfrm>
            <a:off x="3291840" y="4005072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Immediate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Actions</a:t>
            </a:r>
            <a:b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(who does w</a:t>
            </a:r>
            <a:r>
              <a:rPr lang="en" sz="850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hat)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9"/>
          <p:cNvSpPr/>
          <p:nvPr/>
        </p:nvSpPr>
        <p:spPr>
          <a:xfrm>
            <a:off x="4663440" y="3566160"/>
            <a:ext cx="1298448" cy="11704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9"/>
          <p:cNvSpPr/>
          <p:nvPr/>
        </p:nvSpPr>
        <p:spPr>
          <a:xfrm>
            <a:off x="4663440" y="361188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🛠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9"/>
          <p:cNvSpPr/>
          <p:nvPr/>
        </p:nvSpPr>
        <p:spPr>
          <a:xfrm>
            <a:off x="4709160" y="4005072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Remediation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Playbook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9"/>
          <p:cNvSpPr/>
          <p:nvPr/>
        </p:nvSpPr>
        <p:spPr>
          <a:xfrm>
            <a:off x="6080760" y="3566160"/>
            <a:ext cx="1298448" cy="11704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9"/>
          <p:cNvSpPr/>
          <p:nvPr/>
        </p:nvSpPr>
        <p:spPr>
          <a:xfrm>
            <a:off x="6080760" y="361188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9"/>
          <p:cNvSpPr/>
          <p:nvPr/>
        </p:nvSpPr>
        <p:spPr>
          <a:xfrm>
            <a:off x="6126480" y="4005072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Blast Radius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Estimate</a:t>
            </a:r>
            <a:b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(how many users affected)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9"/>
          <p:cNvSpPr/>
          <p:nvPr/>
        </p:nvSpPr>
        <p:spPr>
          <a:xfrm>
            <a:off x="7498080" y="3566160"/>
            <a:ext cx="1298448" cy="11704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9"/>
          <p:cNvSpPr/>
          <p:nvPr/>
        </p:nvSpPr>
        <p:spPr>
          <a:xfrm>
            <a:off x="7498080" y="3611880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alibri"/>
              <a:buNone/>
            </a:pPr>
            <a:r>
              <a:rPr b="0" i="0" lang="en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9"/>
          <p:cNvSpPr/>
          <p:nvPr/>
        </p:nvSpPr>
        <p:spPr>
          <a:xfrm>
            <a:off x="7543800" y="4005072"/>
            <a:ext cx="120700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Data Gap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850"/>
              <a:buFont typeface="Calibri"/>
              <a:buNone/>
            </a:pP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b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8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(confirm/rule out issue)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7" name="Google Shape;547;p20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8" name="Google Shape;548;p20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9" name="Google Shape;549;p20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0" name="Google Shape;550;p20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1" name="Google Shape;551;p20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2" name="Google Shape;552;p20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3" name="Google Shape;553;p20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4" name="Google Shape;554;p20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5" name="Google Shape;555;p20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6" name="Google Shape;556;p20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7" name="Google Shape;557;p20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8" name="Google Shape;558;p20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59" name="Google Shape;559;p20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0" name="Google Shape;560;p20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1" name="Google Shape;561;p20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2" name="Google Shape;562;p20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3" name="Google Shape;563;p20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4" name="Google Shape;564;p20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5" name="Google Shape;565;p20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6" name="Google Shape;566;p20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7" name="Google Shape;567;p20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8" name="Google Shape;568;p20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69" name="Google Shape;569;p20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0" name="Google Shape;570;p20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1" name="Google Shape;571;p20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2" name="Google Shape;572;p20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3" name="Google Shape;573;p20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4" name="Google Shape;574;p20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5" name="Google Shape;575;p20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20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20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20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20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0" name="Google Shape;580;p20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1" name="Google Shape;581;p20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2" name="Google Shape;582;p20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3" name="Google Shape;583;p20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4" name="Google Shape;584;p20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5" name="Google Shape;585;p20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6" name="Google Shape;586;p20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87" name="Google Shape;587;p20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8" name="Google Shape;588;p2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20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03 — STAGE 1 &amp; 2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20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Parse  →  Cluster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20"/>
          <p:cNvSpPr/>
          <p:nvPr/>
        </p:nvSpPr>
        <p:spPr>
          <a:xfrm>
            <a:off x="365760" y="1143000"/>
            <a:ext cx="4023360" cy="370332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20"/>
          <p:cNvSpPr/>
          <p:nvPr/>
        </p:nvSpPr>
        <p:spPr>
          <a:xfrm>
            <a:off x="365760" y="1143000"/>
            <a:ext cx="402336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20"/>
          <p:cNvSpPr/>
          <p:nvPr/>
        </p:nvSpPr>
        <p:spPr>
          <a:xfrm>
            <a:off x="365760" y="1143000"/>
            <a:ext cx="457200" cy="329184"/>
          </a:xfrm>
          <a:prstGeom prst="rect">
            <a:avLst/>
          </a:prstGeom>
          <a:solidFill>
            <a:srgbClr val="3AB8F5">
              <a:alpha val="20000"/>
            </a:srgbClr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20"/>
          <p:cNvSpPr/>
          <p:nvPr/>
        </p:nvSpPr>
        <p:spPr>
          <a:xfrm>
            <a:off x="365760" y="11612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20"/>
          <p:cNvSpPr/>
          <p:nvPr/>
        </p:nvSpPr>
        <p:spPr>
          <a:xfrm>
            <a:off x="914400" y="11887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📥 PARSE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20"/>
          <p:cNvSpPr/>
          <p:nvPr/>
        </p:nvSpPr>
        <p:spPr>
          <a:xfrm>
            <a:off x="502920" y="153619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Unify 3 completely different file formats into one timeline.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20"/>
          <p:cNvSpPr/>
          <p:nvPr/>
        </p:nvSpPr>
        <p:spPr>
          <a:xfrm>
            <a:off x="502920" y="1920240"/>
            <a:ext cx="2286000" cy="237744"/>
          </a:xfrm>
          <a:prstGeom prst="rect">
            <a:avLst/>
          </a:prstGeom>
          <a:solidFill>
            <a:srgbClr val="3AB8F5">
              <a:alpha val="14117"/>
            </a:srgbClr>
          </a:solidFill>
          <a:ln cap="flat" cmpd="sng" w="9525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20"/>
          <p:cNvSpPr/>
          <p:nvPr/>
        </p:nvSpPr>
        <p:spPr>
          <a:xfrm>
            <a:off x="502920" y="192024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📄 app_errors.log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20"/>
          <p:cNvSpPr/>
          <p:nvPr/>
        </p:nvSpPr>
        <p:spPr>
          <a:xfrm>
            <a:off x="502920" y="2212848"/>
            <a:ext cx="2286000" cy="237744"/>
          </a:xfrm>
          <a:prstGeom prst="rect">
            <a:avLst/>
          </a:prstGeom>
          <a:solidFill>
            <a:srgbClr val="E8B84B">
              <a:alpha val="14117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0" name="Google Shape;600;p20"/>
          <p:cNvSpPr/>
          <p:nvPr/>
        </p:nvSpPr>
        <p:spPr>
          <a:xfrm>
            <a:off x="502920" y="221284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🖥 system.log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20"/>
          <p:cNvSpPr/>
          <p:nvPr/>
        </p:nvSpPr>
        <p:spPr>
          <a:xfrm>
            <a:off x="502920" y="2505456"/>
            <a:ext cx="2286000" cy="237744"/>
          </a:xfrm>
          <a:prstGeom prst="rect">
            <a:avLst/>
          </a:prstGeom>
          <a:solidFill>
            <a:srgbClr val="E84545">
              <a:alpha val="14117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20"/>
          <p:cNvSpPr/>
          <p:nvPr/>
        </p:nvSpPr>
        <p:spPr>
          <a:xfrm>
            <a:off x="502920" y="250545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💥 crash.ips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20"/>
          <p:cNvSpPr/>
          <p:nvPr/>
        </p:nvSpPr>
        <p:spPr>
          <a:xfrm>
            <a:off x="2880360" y="208483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000"/>
              <a:buFont typeface="Calibri"/>
              <a:buNone/>
            </a:pPr>
            <a:r>
              <a:rPr b="0" i="1" lang="en" sz="10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▼  all become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20"/>
          <p:cNvSpPr/>
          <p:nvPr/>
        </p:nvSpPr>
        <p:spPr>
          <a:xfrm>
            <a:off x="502920" y="2880360"/>
            <a:ext cx="3749040" cy="502920"/>
          </a:xfrm>
          <a:prstGeom prst="rect">
            <a:avLst/>
          </a:prstGeom>
          <a:solidFill>
            <a:srgbClr val="141B2A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20"/>
          <p:cNvSpPr/>
          <p:nvPr/>
        </p:nvSpPr>
        <p:spPr>
          <a:xfrm>
            <a:off x="566928" y="2926080"/>
            <a:ext cx="3621024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onsolas"/>
              <a:buNone/>
            </a:pPr>
            <a:r>
              <a:rPr b="1" i="0" lang="en" sz="900" u="none" cap="none" strike="noStrike">
                <a:solidFill>
                  <a:srgbClr val="28D47A"/>
                </a:solidFill>
                <a:latin typeface="Consolas"/>
                <a:ea typeface="Consolas"/>
                <a:cs typeface="Consolas"/>
                <a:sym typeface="Consolas"/>
              </a:rPr>
              <a:t>LogEntry( timestamp · level · source · message · pid · file 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20"/>
          <p:cNvSpPr/>
          <p:nvPr/>
        </p:nvSpPr>
        <p:spPr>
          <a:xfrm>
            <a:off x="502920" y="349300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→  Sorted by timestamp across all 3 files = one unified timeline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20"/>
          <p:cNvSpPr/>
          <p:nvPr/>
        </p:nvSpPr>
        <p:spPr>
          <a:xfrm>
            <a:off x="502920" y="384048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WHY THIS MATTERS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20"/>
          <p:cNvSpPr/>
          <p:nvPr/>
        </p:nvSpPr>
        <p:spPr>
          <a:xfrm>
            <a:off x="502920" y="4059936"/>
            <a:ext cx="3749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The kernel sandbox denial at 08:00:58 appears BEFORE the app even launches at 08:01:02. You only see this with a unified timeline.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20"/>
          <p:cNvSpPr/>
          <p:nvPr/>
        </p:nvSpPr>
        <p:spPr>
          <a:xfrm>
            <a:off x="4663440" y="1143000"/>
            <a:ext cx="4114800" cy="370332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20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20"/>
          <p:cNvSpPr/>
          <p:nvPr/>
        </p:nvSpPr>
        <p:spPr>
          <a:xfrm>
            <a:off x="4663440" y="1143000"/>
            <a:ext cx="457200" cy="329184"/>
          </a:xfrm>
          <a:prstGeom prst="rect">
            <a:avLst/>
          </a:prstGeom>
          <a:solidFill>
            <a:srgbClr val="E8B84B">
              <a:alpha val="20000"/>
            </a:srgbClr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2" name="Google Shape;612;p20"/>
          <p:cNvSpPr/>
          <p:nvPr/>
        </p:nvSpPr>
        <p:spPr>
          <a:xfrm>
            <a:off x="4663440" y="11612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20"/>
          <p:cNvSpPr/>
          <p:nvPr/>
        </p:nvSpPr>
        <p:spPr>
          <a:xfrm>
            <a:off x="5212080" y="11887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🔗 CLUSTER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20"/>
          <p:cNvSpPr/>
          <p:nvPr/>
        </p:nvSpPr>
        <p:spPr>
          <a:xfrm>
            <a:off x="4800600" y="153619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Strip variable parts, group what remains. 50 identical errors = 1 cluster.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20"/>
          <p:cNvSpPr/>
          <p:nvPr/>
        </p:nvSpPr>
        <p:spPr>
          <a:xfrm>
            <a:off x="4800600" y="192024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BEFORE clustering: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20"/>
          <p:cNvSpPr/>
          <p:nvPr/>
        </p:nvSpPr>
        <p:spPr>
          <a:xfrm>
            <a:off x="4800600" y="2157984"/>
            <a:ext cx="3840480" cy="23774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20"/>
          <p:cNvSpPr/>
          <p:nvPr/>
        </p:nvSpPr>
        <p:spPr>
          <a:xfrm>
            <a:off x="4864608" y="217627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50"/>
              <a:buFont typeface="Consolas"/>
              <a:buNone/>
            </a:pPr>
            <a:r>
              <a:rPr b="0" i="0" lang="en" sz="85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SQLITE_BUSY: lock held by PID 4219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20"/>
          <p:cNvSpPr/>
          <p:nvPr/>
        </p:nvSpPr>
        <p:spPr>
          <a:xfrm>
            <a:off x="4800600" y="2432304"/>
            <a:ext cx="3840480" cy="23774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20"/>
          <p:cNvSpPr/>
          <p:nvPr/>
        </p:nvSpPr>
        <p:spPr>
          <a:xfrm>
            <a:off x="4864608" y="245059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50"/>
              <a:buFont typeface="Consolas"/>
              <a:buNone/>
            </a:pPr>
            <a:r>
              <a:rPr b="0" i="0" lang="en" sz="85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SQLITE_BUSY: lock held by PID 4231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20"/>
          <p:cNvSpPr/>
          <p:nvPr/>
        </p:nvSpPr>
        <p:spPr>
          <a:xfrm>
            <a:off x="4800600" y="2706624"/>
            <a:ext cx="3840480" cy="23774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20"/>
          <p:cNvSpPr/>
          <p:nvPr/>
        </p:nvSpPr>
        <p:spPr>
          <a:xfrm>
            <a:off x="4864608" y="272491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50"/>
              <a:buFont typeface="Consolas"/>
              <a:buNone/>
            </a:pPr>
            <a:r>
              <a:rPr b="0" i="0" lang="en" sz="85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SQLITE_BUSY: lock held by PID 5104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20"/>
          <p:cNvSpPr/>
          <p:nvPr/>
        </p:nvSpPr>
        <p:spPr>
          <a:xfrm>
            <a:off x="4800600" y="299008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↓  fingerprint( strip PIDs, addresses, paths 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20"/>
          <p:cNvSpPr/>
          <p:nvPr/>
        </p:nvSpPr>
        <p:spPr>
          <a:xfrm>
            <a:off x="4800600" y="3291840"/>
            <a:ext cx="36576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AFTER clustering: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20"/>
          <p:cNvSpPr/>
          <p:nvPr/>
        </p:nvSpPr>
        <p:spPr>
          <a:xfrm>
            <a:off x="4800600" y="3529584"/>
            <a:ext cx="3840480" cy="347472"/>
          </a:xfrm>
          <a:prstGeom prst="rect">
            <a:avLst/>
          </a:prstGeom>
          <a:solidFill>
            <a:srgbClr val="141B2A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5" name="Google Shape;625;p20"/>
          <p:cNvSpPr/>
          <p:nvPr/>
        </p:nvSpPr>
        <p:spPr>
          <a:xfrm>
            <a:off x="4800600" y="3529584"/>
            <a:ext cx="3840480" cy="347472"/>
          </a:xfrm>
          <a:prstGeom prst="rect">
            <a:avLst/>
          </a:prstGeom>
          <a:solidFill>
            <a:srgbClr val="28D47A">
              <a:alpha val="10196"/>
            </a:srgbClr>
          </a:solidFill>
          <a:ln cap="flat" cmpd="sng" w="101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6" name="Google Shape;626;p20"/>
          <p:cNvSpPr/>
          <p:nvPr/>
        </p:nvSpPr>
        <p:spPr>
          <a:xfrm>
            <a:off x="4864608" y="3566160"/>
            <a:ext cx="371246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850"/>
              <a:buFont typeface="Consolas"/>
              <a:buNone/>
            </a:pPr>
            <a:r>
              <a:rPr b="1" i="0" lang="en" sz="850" u="none" cap="none" strike="noStrike">
                <a:solidFill>
                  <a:srgbClr val="28D47A"/>
                </a:solidFill>
                <a:latin typeface="Consolas"/>
                <a:ea typeface="Consolas"/>
                <a:cs typeface="Consolas"/>
                <a:sym typeface="Consolas"/>
              </a:rPr>
              <a:t>"sqlite_busy: lock held by pid NUM"  ×3  → 1 cluster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20"/>
          <p:cNvSpPr/>
          <p:nvPr/>
        </p:nvSpPr>
        <p:spPr>
          <a:xfrm>
            <a:off x="4800600" y="39867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23 errors → 28 unique clusters in sample incident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20"/>
          <p:cNvSpPr/>
          <p:nvPr/>
        </p:nvSpPr>
        <p:spPr>
          <a:xfrm>
            <a:off x="4800600" y="4279392"/>
            <a:ext cx="3840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Regex strips: hex addresses, numbers, file paths, UUIDs, quoted strings, email addresses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4" name="Google Shape;634;p21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5" name="Google Shape;635;p21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6" name="Google Shape;636;p21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7" name="Google Shape;637;p21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8" name="Google Shape;638;p21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9" name="Google Shape;639;p21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0" name="Google Shape;640;p21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1" name="Google Shape;641;p21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21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21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21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21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21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21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8" name="Google Shape;648;p21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9" name="Google Shape;649;p21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0" name="Google Shape;650;p21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1" name="Google Shape;651;p21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2" name="Google Shape;652;p21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21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21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21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21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7" name="Google Shape;657;p21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8" name="Google Shape;658;p21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9" name="Google Shape;659;p21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21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21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21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21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4" name="Google Shape;664;p21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5" name="Google Shape;665;p21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6" name="Google Shape;666;p21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7" name="Google Shape;667;p21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8" name="Google Shape;668;p21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9" name="Google Shape;669;p21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0" name="Google Shape;670;p21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1" name="Google Shape;671;p21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2" name="Google Shape;672;p21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3" name="Google Shape;673;p21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4" name="Google Shape;674;p21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75" name="Google Shape;675;p2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21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03 — STAGE 3 &amp; 4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21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Match  →  Reason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21"/>
          <p:cNvSpPr/>
          <p:nvPr/>
        </p:nvSpPr>
        <p:spPr>
          <a:xfrm>
            <a:off x="365760" y="1143000"/>
            <a:ext cx="4023360" cy="370332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21"/>
          <p:cNvSpPr/>
          <p:nvPr/>
        </p:nvSpPr>
        <p:spPr>
          <a:xfrm>
            <a:off x="365760" y="1143000"/>
            <a:ext cx="4023360" cy="54864"/>
          </a:xfrm>
          <a:prstGeom prst="rect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21"/>
          <p:cNvSpPr/>
          <p:nvPr/>
        </p:nvSpPr>
        <p:spPr>
          <a:xfrm>
            <a:off x="365760" y="11612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21"/>
          <p:cNvSpPr/>
          <p:nvPr/>
        </p:nvSpPr>
        <p:spPr>
          <a:xfrm>
            <a:off x="914400" y="11887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🎯 MATCH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21"/>
          <p:cNvSpPr/>
          <p:nvPr/>
        </p:nvSpPr>
        <p:spPr>
          <a:xfrm>
            <a:off x="502920" y="1536192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8 compiled regex patterns encode macOS platform expertise.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21"/>
          <p:cNvSpPr/>
          <p:nvPr/>
        </p:nvSpPr>
        <p:spPr>
          <a:xfrm>
            <a:off x="475488" y="1874520"/>
            <a:ext cx="1920240" cy="42062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21"/>
          <p:cNvSpPr/>
          <p:nvPr/>
        </p:nvSpPr>
        <p:spPr>
          <a:xfrm>
            <a:off x="548640" y="2020824"/>
            <a:ext cx="109728" cy="109728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21"/>
          <p:cNvSpPr/>
          <p:nvPr/>
        </p:nvSpPr>
        <p:spPr>
          <a:xfrm>
            <a:off x="704088" y="191109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sandbox_violation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21"/>
          <p:cNvSpPr/>
          <p:nvPr/>
        </p:nvSpPr>
        <p:spPr>
          <a:xfrm>
            <a:off x="704088" y="210312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21"/>
          <p:cNvSpPr/>
          <p:nvPr/>
        </p:nvSpPr>
        <p:spPr>
          <a:xfrm>
            <a:off x="1664208" y="2103120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21"/>
          <p:cNvSpPr/>
          <p:nvPr/>
        </p:nvSpPr>
        <p:spPr>
          <a:xfrm>
            <a:off x="2450592" y="1874520"/>
            <a:ext cx="1920240" cy="42062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21"/>
          <p:cNvSpPr/>
          <p:nvPr/>
        </p:nvSpPr>
        <p:spPr>
          <a:xfrm>
            <a:off x="2523744" y="2020824"/>
            <a:ext cx="109728" cy="109728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21"/>
          <p:cNvSpPr/>
          <p:nvPr/>
        </p:nvSpPr>
        <p:spPr>
          <a:xfrm>
            <a:off x="2679192" y="1911096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keychain_missing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21"/>
          <p:cNvSpPr/>
          <p:nvPr/>
        </p:nvSpPr>
        <p:spPr>
          <a:xfrm>
            <a:off x="2679192" y="2103120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21"/>
          <p:cNvSpPr/>
          <p:nvPr/>
        </p:nvSpPr>
        <p:spPr>
          <a:xfrm>
            <a:off x="3639312" y="2103120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21"/>
          <p:cNvSpPr/>
          <p:nvPr/>
        </p:nvSpPr>
        <p:spPr>
          <a:xfrm>
            <a:off x="475488" y="2386584"/>
            <a:ext cx="1920240" cy="42062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21"/>
          <p:cNvSpPr/>
          <p:nvPr/>
        </p:nvSpPr>
        <p:spPr>
          <a:xfrm>
            <a:off x="548640" y="2532888"/>
            <a:ext cx="109728" cy="109728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21"/>
          <p:cNvSpPr/>
          <p:nvPr/>
        </p:nvSpPr>
        <p:spPr>
          <a:xfrm>
            <a:off x="704088" y="242316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network_dns_failure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21"/>
          <p:cNvSpPr/>
          <p:nvPr/>
        </p:nvSpPr>
        <p:spPr>
          <a:xfrm>
            <a:off x="704088" y="261518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21"/>
          <p:cNvSpPr/>
          <p:nvPr/>
        </p:nvSpPr>
        <p:spPr>
          <a:xfrm>
            <a:off x="1664208" y="2615184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21"/>
          <p:cNvSpPr/>
          <p:nvPr/>
        </p:nvSpPr>
        <p:spPr>
          <a:xfrm>
            <a:off x="2450592" y="2386584"/>
            <a:ext cx="1920240" cy="420624"/>
          </a:xfrm>
          <a:prstGeom prst="rect">
            <a:avLst/>
          </a:prstGeom>
          <a:solidFill>
            <a:srgbClr val="F07C3A">
              <a:alpha val="10196"/>
            </a:srgbClr>
          </a:solidFill>
          <a:ln cap="flat" cmpd="sng" w="9525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21"/>
          <p:cNvSpPr/>
          <p:nvPr/>
        </p:nvSpPr>
        <p:spPr>
          <a:xfrm>
            <a:off x="2523744" y="2532888"/>
            <a:ext cx="109728" cy="109728"/>
          </a:xfrm>
          <a:prstGeom prst="ellipse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21"/>
          <p:cNvSpPr/>
          <p:nvPr/>
        </p:nvSpPr>
        <p:spPr>
          <a:xfrm>
            <a:off x="2679192" y="2423160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F07C3A"/>
                </a:solidFill>
                <a:latin typeface="Consolas"/>
                <a:ea typeface="Consolas"/>
                <a:cs typeface="Consolas"/>
                <a:sym typeface="Consolas"/>
              </a:rPr>
              <a:t>auth_cascade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21"/>
          <p:cNvSpPr/>
          <p:nvPr/>
        </p:nvSpPr>
        <p:spPr>
          <a:xfrm>
            <a:off x="2679192" y="2615184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CRITICAL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21"/>
          <p:cNvSpPr/>
          <p:nvPr/>
        </p:nvSpPr>
        <p:spPr>
          <a:xfrm>
            <a:off x="3639312" y="2615184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21"/>
          <p:cNvSpPr/>
          <p:nvPr/>
        </p:nvSpPr>
        <p:spPr>
          <a:xfrm>
            <a:off x="475488" y="2898648"/>
            <a:ext cx="1920240" cy="420624"/>
          </a:xfrm>
          <a:prstGeom prst="rect">
            <a:avLst/>
          </a:prstGeom>
          <a:solidFill>
            <a:srgbClr val="E8B84B">
              <a:alpha val="10196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21"/>
          <p:cNvSpPr/>
          <p:nvPr/>
        </p:nvSpPr>
        <p:spPr>
          <a:xfrm>
            <a:off x="548640" y="3044952"/>
            <a:ext cx="109728" cy="109728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21"/>
          <p:cNvSpPr/>
          <p:nvPr/>
        </p:nvSpPr>
        <p:spPr>
          <a:xfrm>
            <a:off x="704088" y="29352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db_lock_contention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21"/>
          <p:cNvSpPr/>
          <p:nvPr/>
        </p:nvSpPr>
        <p:spPr>
          <a:xfrm>
            <a:off x="704088" y="31272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21"/>
          <p:cNvSpPr/>
          <p:nvPr/>
        </p:nvSpPr>
        <p:spPr>
          <a:xfrm>
            <a:off x="1664208" y="3127248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21"/>
          <p:cNvSpPr/>
          <p:nvPr/>
        </p:nvSpPr>
        <p:spPr>
          <a:xfrm>
            <a:off x="2450592" y="2898648"/>
            <a:ext cx="1920240" cy="420624"/>
          </a:xfrm>
          <a:prstGeom prst="rect">
            <a:avLst/>
          </a:prstGeom>
          <a:solidFill>
            <a:srgbClr val="E8B84B">
              <a:alpha val="10196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21"/>
          <p:cNvSpPr/>
          <p:nvPr/>
        </p:nvSpPr>
        <p:spPr>
          <a:xfrm>
            <a:off x="2523744" y="3044952"/>
            <a:ext cx="109728" cy="109728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21"/>
          <p:cNvSpPr/>
          <p:nvPr/>
        </p:nvSpPr>
        <p:spPr>
          <a:xfrm>
            <a:off x="2679192" y="2935224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memory_pressure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21"/>
          <p:cNvSpPr/>
          <p:nvPr/>
        </p:nvSpPr>
        <p:spPr>
          <a:xfrm>
            <a:off x="2679192" y="3127248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21"/>
          <p:cNvSpPr/>
          <p:nvPr/>
        </p:nvSpPr>
        <p:spPr>
          <a:xfrm>
            <a:off x="3639312" y="3127248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21"/>
          <p:cNvSpPr/>
          <p:nvPr/>
        </p:nvSpPr>
        <p:spPr>
          <a:xfrm>
            <a:off x="475488" y="3410712"/>
            <a:ext cx="1920240" cy="420624"/>
          </a:xfrm>
          <a:prstGeom prst="rect">
            <a:avLst/>
          </a:prstGeom>
          <a:solidFill>
            <a:srgbClr val="E8B84B">
              <a:alpha val="10196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21"/>
          <p:cNvSpPr/>
          <p:nvPr/>
        </p:nvSpPr>
        <p:spPr>
          <a:xfrm>
            <a:off x="548640" y="3557016"/>
            <a:ext cx="109728" cy="109728"/>
          </a:xfrm>
          <a:prstGeom prst="ellipse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21"/>
          <p:cNvSpPr/>
          <p:nvPr/>
        </p:nvSpPr>
        <p:spPr>
          <a:xfrm>
            <a:off x="704088" y="3447288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http_403_perm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21"/>
          <p:cNvSpPr/>
          <p:nvPr/>
        </p:nvSpPr>
        <p:spPr>
          <a:xfrm>
            <a:off x="704088" y="363931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MEDIUM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21"/>
          <p:cNvSpPr/>
          <p:nvPr/>
        </p:nvSpPr>
        <p:spPr>
          <a:xfrm>
            <a:off x="1664208" y="363931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700"/>
              <a:buFont typeface="Calibri"/>
              <a:buNone/>
            </a:pPr>
            <a:r>
              <a:rPr b="1" i="0" lang="en" sz="7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MATCHED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21"/>
          <p:cNvSpPr/>
          <p:nvPr/>
        </p:nvSpPr>
        <p:spPr>
          <a:xfrm>
            <a:off x="2450592" y="3410712"/>
            <a:ext cx="1920240" cy="420624"/>
          </a:xfrm>
          <a:prstGeom prst="rect">
            <a:avLst/>
          </a:prstGeom>
          <a:solidFill>
            <a:srgbClr val="E84545">
              <a:alpha val="10196"/>
            </a:srgbClr>
          </a:solidFill>
          <a:ln cap="flat" cmpd="sng" w="9525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21"/>
          <p:cNvSpPr/>
          <p:nvPr/>
        </p:nvSpPr>
        <p:spPr>
          <a:xfrm>
            <a:off x="2523744" y="3557016"/>
            <a:ext cx="109728" cy="109728"/>
          </a:xfrm>
          <a:prstGeom prst="ellipse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21"/>
          <p:cNvSpPr/>
          <p:nvPr/>
        </p:nvSpPr>
        <p:spPr>
          <a:xfrm>
            <a:off x="2679192" y="3447288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00"/>
              <a:buFont typeface="Consolas"/>
              <a:buNone/>
            </a:pPr>
            <a:r>
              <a:rPr b="1" i="0" lang="en" sz="800" u="none" cap="none" strike="noStrike">
                <a:solidFill>
                  <a:srgbClr val="E84545"/>
                </a:solidFill>
                <a:latin typeface="Consolas"/>
                <a:ea typeface="Consolas"/>
                <a:cs typeface="Consolas"/>
                <a:sym typeface="Consolas"/>
              </a:rPr>
              <a:t>dylib_load_fail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21"/>
          <p:cNvSpPr/>
          <p:nvPr/>
        </p:nvSpPr>
        <p:spPr>
          <a:xfrm>
            <a:off x="2679192" y="3639312"/>
            <a:ext cx="9144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HIGH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21"/>
          <p:cNvSpPr/>
          <p:nvPr/>
        </p:nvSpPr>
        <p:spPr>
          <a:xfrm>
            <a:off x="3639312" y="3639312"/>
            <a:ext cx="5486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700"/>
              <a:buFont typeface="Calibri"/>
              <a:buNone/>
            </a:pPr>
            <a:r>
              <a:rPr b="0" i="0" lang="en" sz="7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○ CLEAN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3" name="Google Shape;723;p21"/>
          <p:cNvSpPr/>
          <p:nvPr/>
        </p:nvSpPr>
        <p:spPr>
          <a:xfrm>
            <a:off x="475488" y="3959352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1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Each signature carries: severity · category · description · 4-5 remediation steps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21"/>
          <p:cNvSpPr/>
          <p:nvPr/>
        </p:nvSpPr>
        <p:spPr>
          <a:xfrm>
            <a:off x="475488" y="429768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WHY REGEX NOT ML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21"/>
          <p:cNvSpPr/>
          <p:nvPr/>
        </p:nvSpPr>
        <p:spPr>
          <a:xfrm>
            <a:off x="475488" y="4498848"/>
            <a:ext cx="3749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Zero training data · Fully explainable · Works offline · Add new signature in 10 min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21"/>
          <p:cNvSpPr/>
          <p:nvPr/>
        </p:nvSpPr>
        <p:spPr>
          <a:xfrm>
            <a:off x="4663440" y="1143000"/>
            <a:ext cx="4114800" cy="370332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21"/>
          <p:cNvSpPr/>
          <p:nvPr/>
        </p:nvSpPr>
        <p:spPr>
          <a:xfrm>
            <a:off x="4663440" y="1143000"/>
            <a:ext cx="4114800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8" name="Google Shape;728;p21"/>
          <p:cNvSpPr/>
          <p:nvPr/>
        </p:nvSpPr>
        <p:spPr>
          <a:xfrm>
            <a:off x="4663440" y="1161288"/>
            <a:ext cx="457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21"/>
          <p:cNvSpPr/>
          <p:nvPr/>
        </p:nvSpPr>
        <p:spPr>
          <a:xfrm>
            <a:off x="5212080" y="1188720"/>
            <a:ext cx="3383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🧠 REASON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21"/>
          <p:cNvSpPr/>
          <p:nvPr/>
        </p:nvSpPr>
        <p:spPr>
          <a:xfrm>
            <a:off x="4800600" y="15361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50"/>
              <a:buFont typeface="Calibri"/>
              <a:buNone/>
            </a:pPr>
            <a:r>
              <a:rPr b="0" i="0" lang="en" sz="10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Claude synthesizes: facts → causal chain → ranked hypotheses.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21"/>
          <p:cNvSpPr/>
          <p:nvPr/>
        </p:nvSpPr>
        <p:spPr>
          <a:xfrm>
            <a:off x="4800600" y="187452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PROMPT SENDS: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21"/>
          <p:cNvSpPr/>
          <p:nvPr/>
        </p:nvSpPr>
        <p:spPr>
          <a:xfrm>
            <a:off x="4800600" y="2103120"/>
            <a:ext cx="3840480" cy="237744"/>
          </a:xfrm>
          <a:prstGeom prst="rect">
            <a:avLst/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21"/>
          <p:cNvSpPr/>
          <p:nvPr/>
        </p:nvSpPr>
        <p:spPr>
          <a:xfrm>
            <a:off x="4864608" y="213055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→  Matched signatures + severity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21"/>
          <p:cNvSpPr/>
          <p:nvPr/>
        </p:nvSpPr>
        <p:spPr>
          <a:xfrm>
            <a:off x="4800600" y="2377440"/>
            <a:ext cx="3840480" cy="237744"/>
          </a:xfrm>
          <a:prstGeom prst="rect">
            <a:avLst/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21"/>
          <p:cNvSpPr/>
          <p:nvPr/>
        </p:nvSpPr>
        <p:spPr>
          <a:xfrm>
            <a:off x="4864608" y="240487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→  Top 8 error clusters + frequency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21"/>
          <p:cNvSpPr/>
          <p:nvPr/>
        </p:nvSpPr>
        <p:spPr>
          <a:xfrm>
            <a:off x="4800600" y="2651760"/>
            <a:ext cx="3840480" cy="237744"/>
          </a:xfrm>
          <a:prstGeom prst="rect">
            <a:avLst/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21"/>
          <p:cNvSpPr/>
          <p:nvPr/>
        </p:nvSpPr>
        <p:spPr>
          <a:xfrm>
            <a:off x="4864608" y="267919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→  Crash report: exception + stack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21"/>
          <p:cNvSpPr/>
          <p:nvPr/>
        </p:nvSpPr>
        <p:spPr>
          <a:xfrm>
            <a:off x="4800600" y="2926080"/>
            <a:ext cx="3840480" cy="237744"/>
          </a:xfrm>
          <a:prstGeom prst="rect">
            <a:avLst/>
          </a:prstGeom>
          <a:solidFill>
            <a:srgbClr val="8B5CF6">
              <a:alpha val="10196"/>
            </a:srgbClr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21"/>
          <p:cNvSpPr/>
          <p:nvPr/>
        </p:nvSpPr>
        <p:spPr>
          <a:xfrm>
            <a:off x="4864608" y="2953512"/>
            <a:ext cx="371246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→  Raw log snippets for grounding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21"/>
          <p:cNvSpPr/>
          <p:nvPr/>
        </p:nvSpPr>
        <p:spPr>
          <a:xfrm>
            <a:off x="4800600" y="3236976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50"/>
              <a:buFont typeface="Calibri"/>
              <a:buNone/>
            </a:pPr>
            <a:r>
              <a:rPr b="1" i="0" lang="en" sz="8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CLAUDE RETURNS: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21"/>
          <p:cNvSpPr/>
          <p:nvPr/>
        </p:nvSpPr>
        <p:spPr>
          <a:xfrm>
            <a:off x="4800600" y="345643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 root_cause_hypotheses[] — ranked, confidence, causal_chain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21"/>
          <p:cNvSpPr/>
          <p:nvPr/>
        </p:nvSpPr>
        <p:spPr>
          <a:xfrm>
            <a:off x="4800600" y="373075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 immediate_actions[] — owner, effort estimate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21"/>
          <p:cNvSpPr/>
          <p:nvPr/>
        </p:nvSpPr>
        <p:spPr>
          <a:xfrm>
            <a:off x="4800600" y="400507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 systemic_fixes[] — architectural improvements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21"/>
          <p:cNvSpPr/>
          <p:nvPr/>
        </p:nvSpPr>
        <p:spPr>
          <a:xfrm>
            <a:off x="4800600" y="4279392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✓  data_gaps[] — what would increase confidence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21"/>
          <p:cNvSpPr/>
          <p:nvPr/>
        </p:nvSpPr>
        <p:spPr>
          <a:xfrm>
            <a:off x="4800600" y="4572000"/>
            <a:ext cx="3840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⚡  Offline fallback: _fallback_analysis() — identical output, zero API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1" name="Google Shape;751;p22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2" name="Google Shape;752;p22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22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22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22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22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7" name="Google Shape;757;p22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8" name="Google Shape;758;p22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9" name="Google Shape;759;p22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0" name="Google Shape;760;p22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1" name="Google Shape;761;p22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2" name="Google Shape;762;p22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3" name="Google Shape;763;p22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4" name="Google Shape;764;p22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5" name="Google Shape;765;p22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6" name="Google Shape;766;p22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7" name="Google Shape;767;p22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8" name="Google Shape;768;p22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22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22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22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22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22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4" name="Google Shape;774;p22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5" name="Google Shape;775;p22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6" name="Google Shape;776;p22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7" name="Google Shape;777;p22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8" name="Google Shape;778;p22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9" name="Google Shape;779;p22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22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22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22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22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22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22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6" name="Google Shape;786;p22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7" name="Google Shape;787;p22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8" name="Google Shape;788;p22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9" name="Google Shape;789;p22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0" name="Google Shape;790;p22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1" name="Google Shape;791;p22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92" name="Google Shape;792;p2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22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04 — DEVELOPMENT APPROACH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22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How </a:t>
            </a:r>
            <a:r>
              <a:rPr b="1" lang="en" sz="38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It’s</a:t>
            </a: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 Built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22"/>
          <p:cNvSpPr/>
          <p:nvPr/>
        </p:nvSpPr>
        <p:spPr>
          <a:xfrm>
            <a:off x="365760" y="1143000"/>
            <a:ext cx="3108960" cy="37490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22"/>
          <p:cNvSpPr/>
          <p:nvPr/>
        </p:nvSpPr>
        <p:spPr>
          <a:xfrm>
            <a:off x="365760" y="1143000"/>
            <a:ext cx="310896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22"/>
          <p:cNvSpPr/>
          <p:nvPr/>
        </p:nvSpPr>
        <p:spPr>
          <a:xfrm>
            <a:off x="502920" y="1252728"/>
            <a:ext cx="2834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22"/>
          <p:cNvSpPr/>
          <p:nvPr/>
        </p:nvSpPr>
        <p:spPr>
          <a:xfrm>
            <a:off x="475488" y="1609344"/>
            <a:ext cx="2907792" cy="420624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22"/>
          <p:cNvSpPr/>
          <p:nvPr/>
        </p:nvSpPr>
        <p:spPr>
          <a:xfrm>
            <a:off x="475488" y="1609344"/>
            <a:ext cx="54864" cy="42062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0" name="Google Shape;800;p22"/>
          <p:cNvSpPr/>
          <p:nvPr/>
        </p:nvSpPr>
        <p:spPr>
          <a:xfrm>
            <a:off x="603504" y="16459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1" name="Google Shape;801;p22"/>
          <p:cNvSpPr/>
          <p:nvPr/>
        </p:nvSpPr>
        <p:spPr>
          <a:xfrm>
            <a:off x="603504" y="181051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Python 3.8+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22"/>
          <p:cNvSpPr/>
          <p:nvPr/>
        </p:nvSpPr>
        <p:spPr>
          <a:xfrm>
            <a:off x="1828800" y="164592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3.8 compatible for enterprise machines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3" name="Google Shape;803;p22"/>
          <p:cNvSpPr/>
          <p:nvPr/>
        </p:nvSpPr>
        <p:spPr>
          <a:xfrm>
            <a:off x="475488" y="2112264"/>
            <a:ext cx="2907792" cy="420624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22"/>
          <p:cNvSpPr/>
          <p:nvPr/>
        </p:nvSpPr>
        <p:spPr>
          <a:xfrm>
            <a:off x="475488" y="2112264"/>
            <a:ext cx="54864" cy="42062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22"/>
          <p:cNvSpPr/>
          <p:nvPr/>
        </p:nvSpPr>
        <p:spPr>
          <a:xfrm>
            <a:off x="603504" y="214884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API Server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22"/>
          <p:cNvSpPr/>
          <p:nvPr/>
        </p:nvSpPr>
        <p:spPr>
          <a:xfrm>
            <a:off x="603504" y="231343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Flask 3.0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7" name="Google Shape;807;p22"/>
          <p:cNvSpPr/>
          <p:nvPr/>
        </p:nvSpPr>
        <p:spPr>
          <a:xfrm>
            <a:off x="1828800" y="214884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50-line REST API, zero boilerplate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22"/>
          <p:cNvSpPr/>
          <p:nvPr/>
        </p:nvSpPr>
        <p:spPr>
          <a:xfrm>
            <a:off x="475488" y="2615184"/>
            <a:ext cx="2907792" cy="420624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22"/>
          <p:cNvSpPr/>
          <p:nvPr/>
        </p:nvSpPr>
        <p:spPr>
          <a:xfrm>
            <a:off x="475488" y="2615184"/>
            <a:ext cx="54864" cy="42062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0" name="Google Shape;810;p22"/>
          <p:cNvSpPr/>
          <p:nvPr/>
        </p:nvSpPr>
        <p:spPr>
          <a:xfrm>
            <a:off x="603504" y="265176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AI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1" name="Google Shape;811;p22"/>
          <p:cNvSpPr/>
          <p:nvPr/>
        </p:nvSpPr>
        <p:spPr>
          <a:xfrm>
            <a:off x="603504" y="281635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Claude Sonnet 4.6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22"/>
          <p:cNvSpPr/>
          <p:nvPr/>
        </p:nvSpPr>
        <p:spPr>
          <a:xfrm>
            <a:off x="1828800" y="265176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Fast, reliable JSON, cost-efficient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3" name="Google Shape;813;p22"/>
          <p:cNvSpPr/>
          <p:nvPr/>
        </p:nvSpPr>
        <p:spPr>
          <a:xfrm>
            <a:off x="475488" y="3118104"/>
            <a:ext cx="2907792" cy="420624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4" name="Google Shape;814;p22"/>
          <p:cNvSpPr/>
          <p:nvPr/>
        </p:nvSpPr>
        <p:spPr>
          <a:xfrm>
            <a:off x="475488" y="3118104"/>
            <a:ext cx="54864" cy="42062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22"/>
          <p:cNvSpPr/>
          <p:nvPr/>
        </p:nvSpPr>
        <p:spPr>
          <a:xfrm>
            <a:off x="603504" y="315468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HTTP Client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22"/>
          <p:cNvSpPr/>
          <p:nvPr/>
        </p:nvSpPr>
        <p:spPr>
          <a:xfrm>
            <a:off x="603504" y="331927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httpx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7" name="Google Shape;817;p22"/>
          <p:cNvSpPr/>
          <p:nvPr/>
        </p:nvSpPr>
        <p:spPr>
          <a:xfrm>
            <a:off x="1828800" y="315468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Async-ready, timeout handling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22"/>
          <p:cNvSpPr/>
          <p:nvPr/>
        </p:nvSpPr>
        <p:spPr>
          <a:xfrm>
            <a:off x="475488" y="3621024"/>
            <a:ext cx="2907792" cy="420624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22"/>
          <p:cNvSpPr/>
          <p:nvPr/>
        </p:nvSpPr>
        <p:spPr>
          <a:xfrm>
            <a:off x="475488" y="3621024"/>
            <a:ext cx="54864" cy="42062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22"/>
          <p:cNvSpPr/>
          <p:nvPr/>
        </p:nvSpPr>
        <p:spPr>
          <a:xfrm>
            <a:off x="603504" y="365760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1" name="Google Shape;821;p22"/>
          <p:cNvSpPr/>
          <p:nvPr/>
        </p:nvSpPr>
        <p:spPr>
          <a:xfrm>
            <a:off x="603504" y="382219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Vanilla HTML/JS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22"/>
          <p:cNvSpPr/>
          <p:nvPr/>
        </p:nvSpPr>
        <p:spPr>
          <a:xfrm>
            <a:off x="1828800" y="365760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Zero dependencies, works everywhere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3" name="Google Shape;823;p22"/>
          <p:cNvSpPr/>
          <p:nvPr/>
        </p:nvSpPr>
        <p:spPr>
          <a:xfrm>
            <a:off x="475488" y="4123944"/>
            <a:ext cx="2907792" cy="420624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22"/>
          <p:cNvSpPr/>
          <p:nvPr/>
        </p:nvSpPr>
        <p:spPr>
          <a:xfrm>
            <a:off x="475488" y="4123944"/>
            <a:ext cx="54864" cy="42062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5" name="Google Shape;825;p22"/>
          <p:cNvSpPr/>
          <p:nvPr/>
        </p:nvSpPr>
        <p:spPr>
          <a:xfrm>
            <a:off x="603504" y="4160520"/>
            <a:ext cx="10058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22"/>
          <p:cNvSpPr/>
          <p:nvPr/>
        </p:nvSpPr>
        <p:spPr>
          <a:xfrm>
            <a:off x="603504" y="432511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pytest + cov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7" name="Google Shape;827;p22"/>
          <p:cNvSpPr/>
          <p:nvPr/>
        </p:nvSpPr>
        <p:spPr>
          <a:xfrm>
            <a:off x="1828800" y="4160520"/>
            <a:ext cx="148132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Industry standard, parametric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22"/>
          <p:cNvSpPr/>
          <p:nvPr/>
        </p:nvSpPr>
        <p:spPr>
          <a:xfrm>
            <a:off x="3657600" y="1143000"/>
            <a:ext cx="2743200" cy="37490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22"/>
          <p:cNvSpPr/>
          <p:nvPr/>
        </p:nvSpPr>
        <p:spPr>
          <a:xfrm>
            <a:off x="3657600" y="1143000"/>
            <a:ext cx="274320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0" name="Google Shape;830;p22"/>
          <p:cNvSpPr/>
          <p:nvPr/>
        </p:nvSpPr>
        <p:spPr>
          <a:xfrm>
            <a:off x="3794760" y="1252728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KEY DECISIONS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22"/>
          <p:cNvSpPr/>
          <p:nvPr/>
        </p:nvSpPr>
        <p:spPr>
          <a:xfrm>
            <a:off x="3767328" y="1682496"/>
            <a:ext cx="182880" cy="182880"/>
          </a:xfrm>
          <a:prstGeom prst="ellipse">
            <a:avLst/>
          </a:prstGeom>
          <a:solidFill>
            <a:srgbClr val="3AB8F5">
              <a:alpha val="3019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2" name="Google Shape;832;p22"/>
          <p:cNvSpPr/>
          <p:nvPr/>
        </p:nvSpPr>
        <p:spPr>
          <a:xfrm>
            <a:off x="3767328" y="1682496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3" name="Google Shape;833;p22"/>
          <p:cNvSpPr/>
          <p:nvPr/>
        </p:nvSpPr>
        <p:spPr>
          <a:xfrm>
            <a:off x="4005072" y="1609344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Rule-based first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22"/>
          <p:cNvSpPr/>
          <p:nvPr/>
        </p:nvSpPr>
        <p:spPr>
          <a:xfrm>
            <a:off x="4005072" y="1856232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Fast, offline, explainable — LLMs unreliable for regex-level detection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5" name="Google Shape;835;p22"/>
          <p:cNvSpPr/>
          <p:nvPr/>
        </p:nvSpPr>
        <p:spPr>
          <a:xfrm>
            <a:off x="3767328" y="2304288"/>
            <a:ext cx="182880" cy="182880"/>
          </a:xfrm>
          <a:prstGeom prst="ellipse">
            <a:avLst/>
          </a:prstGeom>
          <a:solidFill>
            <a:srgbClr val="3AB8F5">
              <a:alpha val="3019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22"/>
          <p:cNvSpPr/>
          <p:nvPr/>
        </p:nvSpPr>
        <p:spPr>
          <a:xfrm>
            <a:off x="3767328" y="2304288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22"/>
          <p:cNvSpPr/>
          <p:nvPr/>
        </p:nvSpPr>
        <p:spPr>
          <a:xfrm>
            <a:off x="4005072" y="2231136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AI for synthesis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22"/>
          <p:cNvSpPr/>
          <p:nvPr/>
        </p:nvSpPr>
        <p:spPr>
          <a:xfrm>
            <a:off x="4005072" y="2478024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Claude excels at reasoning over structured context, not raw pattern matching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22"/>
          <p:cNvSpPr/>
          <p:nvPr/>
        </p:nvSpPr>
        <p:spPr>
          <a:xfrm>
            <a:off x="3767328" y="2926080"/>
            <a:ext cx="182880" cy="182880"/>
          </a:xfrm>
          <a:prstGeom prst="ellipse">
            <a:avLst/>
          </a:prstGeom>
          <a:solidFill>
            <a:srgbClr val="3AB8F5">
              <a:alpha val="3019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0" name="Google Shape;840;p22"/>
          <p:cNvSpPr/>
          <p:nvPr/>
        </p:nvSpPr>
        <p:spPr>
          <a:xfrm>
            <a:off x="3767328" y="2926080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22"/>
          <p:cNvSpPr/>
          <p:nvPr/>
        </p:nvSpPr>
        <p:spPr>
          <a:xfrm>
            <a:off x="4005072" y="2852928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4-stage pipeline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22"/>
          <p:cNvSpPr/>
          <p:nvPr/>
        </p:nvSpPr>
        <p:spPr>
          <a:xfrm>
            <a:off x="4005072" y="3099816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Each stage removes one category of noise before the next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22"/>
          <p:cNvSpPr/>
          <p:nvPr/>
        </p:nvSpPr>
        <p:spPr>
          <a:xfrm>
            <a:off x="3767328" y="3547872"/>
            <a:ext cx="182880" cy="182880"/>
          </a:xfrm>
          <a:prstGeom prst="ellipse">
            <a:avLst/>
          </a:prstGeom>
          <a:solidFill>
            <a:srgbClr val="3AB8F5">
              <a:alpha val="3019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22"/>
          <p:cNvSpPr/>
          <p:nvPr/>
        </p:nvSpPr>
        <p:spPr>
          <a:xfrm>
            <a:off x="3767328" y="3547872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22"/>
          <p:cNvSpPr/>
          <p:nvPr/>
        </p:nvSpPr>
        <p:spPr>
          <a:xfrm>
            <a:off x="4005072" y="3474720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Always fallback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22"/>
          <p:cNvSpPr/>
          <p:nvPr/>
        </p:nvSpPr>
        <p:spPr>
          <a:xfrm>
            <a:off x="4005072" y="3721608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Enterprise networks block outbound; tool must work air-gapped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22"/>
          <p:cNvSpPr/>
          <p:nvPr/>
        </p:nvSpPr>
        <p:spPr>
          <a:xfrm>
            <a:off x="3767328" y="4169664"/>
            <a:ext cx="182880" cy="182880"/>
          </a:xfrm>
          <a:prstGeom prst="ellipse">
            <a:avLst/>
          </a:prstGeom>
          <a:solidFill>
            <a:srgbClr val="3AB8F5">
              <a:alpha val="30196"/>
            </a:srgbClr>
          </a:solidFill>
          <a:ln cap="flat" cmpd="sng" w="101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22"/>
          <p:cNvSpPr/>
          <p:nvPr/>
        </p:nvSpPr>
        <p:spPr>
          <a:xfrm>
            <a:off x="3767328" y="4169664"/>
            <a:ext cx="1828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22"/>
          <p:cNvSpPr/>
          <p:nvPr/>
        </p:nvSpPr>
        <p:spPr>
          <a:xfrm>
            <a:off x="4005072" y="4096512"/>
            <a:ext cx="22860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b="1" i="0" lang="en" sz="11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Multi-source only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0" name="Google Shape;850;p22"/>
          <p:cNvSpPr/>
          <p:nvPr/>
        </p:nvSpPr>
        <p:spPr>
          <a:xfrm>
            <a:off x="4005072" y="4343400"/>
            <a:ext cx="2286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App log alone is useless — root cause lives in kernel/configd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22"/>
          <p:cNvSpPr/>
          <p:nvPr/>
        </p:nvSpPr>
        <p:spPr>
          <a:xfrm>
            <a:off x="6583680" y="1143000"/>
            <a:ext cx="2194560" cy="37490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22"/>
          <p:cNvSpPr/>
          <p:nvPr/>
        </p:nvSpPr>
        <p:spPr>
          <a:xfrm>
            <a:off x="6583680" y="1143000"/>
            <a:ext cx="2194560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3" name="Google Shape;853;p22"/>
          <p:cNvSpPr/>
          <p:nvPr/>
        </p:nvSpPr>
        <p:spPr>
          <a:xfrm>
            <a:off x="6693408" y="1252728"/>
            <a:ext cx="1975104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950"/>
              <a:buFont typeface="Calibri"/>
              <a:buNone/>
            </a:pPr>
            <a:r>
              <a:rPr b="1" i="0" lang="en" sz="95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REPO STRUCTURE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22"/>
          <p:cNvSpPr/>
          <p:nvPr/>
        </p:nvSpPr>
        <p:spPr>
          <a:xfrm>
            <a:off x="6656832" y="1609344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src/log_parser.py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22"/>
          <p:cNvSpPr/>
          <p:nvPr/>
        </p:nvSpPr>
        <p:spPr>
          <a:xfrm>
            <a:off x="6656832" y="1792224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Multi-format ingestion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22"/>
          <p:cNvSpPr/>
          <p:nvPr/>
        </p:nvSpPr>
        <p:spPr>
          <a:xfrm>
            <a:off x="6656832" y="2011680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src/analyzer.py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22"/>
          <p:cNvSpPr/>
          <p:nvPr/>
        </p:nvSpPr>
        <p:spPr>
          <a:xfrm>
            <a:off x="6656832" y="2194560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Clustering + signatures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22"/>
          <p:cNvSpPr/>
          <p:nvPr/>
        </p:nvSpPr>
        <p:spPr>
          <a:xfrm>
            <a:off x="6656832" y="2414016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src/ai_engine.py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22"/>
          <p:cNvSpPr/>
          <p:nvPr/>
        </p:nvSpPr>
        <p:spPr>
          <a:xfrm>
            <a:off x="6656832" y="2596896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Claude + fallback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22"/>
          <p:cNvSpPr/>
          <p:nvPr/>
        </p:nvSpPr>
        <p:spPr>
          <a:xfrm>
            <a:off x="6656832" y="2816352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app.py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22"/>
          <p:cNvSpPr/>
          <p:nvPr/>
        </p:nvSpPr>
        <p:spPr>
          <a:xfrm>
            <a:off x="6656832" y="2999232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Flask REST server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22"/>
          <p:cNvSpPr/>
          <p:nvPr/>
        </p:nvSpPr>
        <p:spPr>
          <a:xfrm>
            <a:off x="6656832" y="3218688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static/index.html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22"/>
          <p:cNvSpPr/>
          <p:nvPr/>
        </p:nvSpPr>
        <p:spPr>
          <a:xfrm>
            <a:off x="6656832" y="3401568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Dashboard UI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4" name="Google Shape;864;p22"/>
          <p:cNvSpPr/>
          <p:nvPr/>
        </p:nvSpPr>
        <p:spPr>
          <a:xfrm>
            <a:off x="6656832" y="3621024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tests/test_logwise.py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22"/>
          <p:cNvSpPr/>
          <p:nvPr/>
        </p:nvSpPr>
        <p:spPr>
          <a:xfrm>
            <a:off x="6656832" y="3803904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40 tests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22"/>
          <p:cNvSpPr/>
          <p:nvPr/>
        </p:nvSpPr>
        <p:spPr>
          <a:xfrm>
            <a:off x="6656832" y="4023360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sample_logs/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22"/>
          <p:cNvSpPr/>
          <p:nvPr/>
        </p:nvSpPr>
        <p:spPr>
          <a:xfrm>
            <a:off x="6656832" y="4206240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3 incident files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22"/>
          <p:cNvSpPr/>
          <p:nvPr/>
        </p:nvSpPr>
        <p:spPr>
          <a:xfrm>
            <a:off x="6656832" y="4425696"/>
            <a:ext cx="2048256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docs/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22"/>
          <p:cNvSpPr/>
          <p:nvPr/>
        </p:nvSpPr>
        <p:spPr>
          <a:xfrm>
            <a:off x="6656832" y="4608576"/>
            <a:ext cx="204825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750"/>
              <a:buFont typeface="Calibri"/>
              <a:buNone/>
            </a:pPr>
            <a:r>
              <a:rPr b="0" i="0" lang="en" sz="75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4 docs + report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5" name="Google Shape;875;p2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23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23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8" name="Google Shape;878;p23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9" name="Google Shape;879;p23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0" name="Google Shape;880;p23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1" name="Google Shape;881;p23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23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23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23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5" name="Google Shape;885;p23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6" name="Google Shape;886;p23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7" name="Google Shape;887;p23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8" name="Google Shape;888;p23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9" name="Google Shape;889;p23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0" name="Google Shape;890;p23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1" name="Google Shape;891;p23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2" name="Google Shape;892;p23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3" name="Google Shape;893;p23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4" name="Google Shape;894;p23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23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23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7" name="Google Shape;897;p23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8" name="Google Shape;898;p23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9" name="Google Shape;899;p23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0" name="Google Shape;900;p23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1" name="Google Shape;901;p2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2" name="Google Shape;902;p23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3" name="Google Shape;903;p23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4" name="Google Shape;904;p23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5" name="Google Shape;905;p23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6" name="Google Shape;906;p23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23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23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23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0" name="Google Shape;910;p23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1" name="Google Shape;911;p23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2" name="Google Shape;912;p23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23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23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23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2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3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05 — QUALITY &amp; TESTING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3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40 Tests. Zero Failures.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9" name="Google Shape;919;p23"/>
          <p:cNvSpPr/>
          <p:nvPr/>
        </p:nvSpPr>
        <p:spPr>
          <a:xfrm>
            <a:off x="457200" y="1143000"/>
            <a:ext cx="2011680" cy="150876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0" name="Google Shape;920;p23"/>
          <p:cNvSpPr/>
          <p:nvPr/>
        </p:nvSpPr>
        <p:spPr>
          <a:xfrm>
            <a:off x="457200" y="1143000"/>
            <a:ext cx="2011680" cy="45720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3"/>
          <p:cNvSpPr/>
          <p:nvPr/>
        </p:nvSpPr>
        <p:spPr>
          <a:xfrm>
            <a:off x="548640" y="120700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onsolas"/>
                <a:ea typeface="Consolas"/>
                <a:cs typeface="Consolas"/>
                <a:sym typeface="Consolas"/>
              </a:rPr>
              <a:t>log_parser.py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3"/>
          <p:cNvSpPr/>
          <p:nvPr/>
        </p:nvSpPr>
        <p:spPr>
          <a:xfrm>
            <a:off x="548640" y="142646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92%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3" name="Google Shape;923;p23"/>
          <p:cNvSpPr/>
          <p:nvPr/>
        </p:nvSpPr>
        <p:spPr>
          <a:xfrm>
            <a:off x="548640" y="1938528"/>
            <a:ext cx="1828800" cy="91440"/>
          </a:xfrm>
          <a:prstGeom prst="rect">
            <a:avLst/>
          </a:prstGeom>
          <a:solidFill>
            <a:srgbClr val="1E2840"/>
          </a:solidFill>
          <a:ln cap="flat" cmpd="sng" w="1270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3"/>
          <p:cNvSpPr/>
          <p:nvPr/>
        </p:nvSpPr>
        <p:spPr>
          <a:xfrm>
            <a:off x="548640" y="1938528"/>
            <a:ext cx="1682496" cy="91440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5" name="Google Shape;925;p23"/>
          <p:cNvSpPr/>
          <p:nvPr/>
        </p:nvSpPr>
        <p:spPr>
          <a:xfrm>
            <a:off x="548640" y="20665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21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6" name="Google Shape;926;p23"/>
          <p:cNvCxnSpPr/>
          <p:nvPr/>
        </p:nvCxnSpPr>
        <p:spPr>
          <a:xfrm>
            <a:off x="457200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7" name="Google Shape;927;p23"/>
          <p:cNvCxnSpPr/>
          <p:nvPr/>
        </p:nvCxnSpPr>
        <p:spPr>
          <a:xfrm>
            <a:off x="457200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8" name="Google Shape;928;p23"/>
          <p:cNvCxnSpPr/>
          <p:nvPr/>
        </p:nvCxnSpPr>
        <p:spPr>
          <a:xfrm>
            <a:off x="2304288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9" name="Google Shape;929;p23"/>
          <p:cNvCxnSpPr/>
          <p:nvPr/>
        </p:nvCxnSpPr>
        <p:spPr>
          <a:xfrm>
            <a:off x="2468880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0" name="Google Shape;930;p23"/>
          <p:cNvCxnSpPr/>
          <p:nvPr/>
        </p:nvCxnSpPr>
        <p:spPr>
          <a:xfrm>
            <a:off x="457200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1" name="Google Shape;931;p23"/>
          <p:cNvCxnSpPr/>
          <p:nvPr/>
        </p:nvCxnSpPr>
        <p:spPr>
          <a:xfrm>
            <a:off x="457200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2" name="Google Shape;932;p23"/>
          <p:cNvCxnSpPr/>
          <p:nvPr/>
        </p:nvCxnSpPr>
        <p:spPr>
          <a:xfrm>
            <a:off x="2304288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33" name="Google Shape;933;p23"/>
          <p:cNvCxnSpPr/>
          <p:nvPr/>
        </p:nvCxnSpPr>
        <p:spPr>
          <a:xfrm>
            <a:off x="2468880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4" name="Google Shape;934;p23"/>
          <p:cNvSpPr/>
          <p:nvPr/>
        </p:nvSpPr>
        <p:spPr>
          <a:xfrm>
            <a:off x="2633472" y="1143000"/>
            <a:ext cx="2011680" cy="150876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23"/>
          <p:cNvSpPr/>
          <p:nvPr/>
        </p:nvSpPr>
        <p:spPr>
          <a:xfrm>
            <a:off x="2633472" y="1143000"/>
            <a:ext cx="2011680" cy="45720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23"/>
          <p:cNvSpPr/>
          <p:nvPr/>
        </p:nvSpPr>
        <p:spPr>
          <a:xfrm>
            <a:off x="2724912" y="120700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onsolas"/>
                <a:ea typeface="Consolas"/>
                <a:cs typeface="Consolas"/>
                <a:sym typeface="Consolas"/>
              </a:rPr>
              <a:t>analyzer.py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7" name="Google Shape;937;p23"/>
          <p:cNvSpPr/>
          <p:nvPr/>
        </p:nvSpPr>
        <p:spPr>
          <a:xfrm>
            <a:off x="2724912" y="142646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8" name="Google Shape;938;p23"/>
          <p:cNvSpPr/>
          <p:nvPr/>
        </p:nvSpPr>
        <p:spPr>
          <a:xfrm>
            <a:off x="2724912" y="1938528"/>
            <a:ext cx="1828800" cy="91440"/>
          </a:xfrm>
          <a:prstGeom prst="rect">
            <a:avLst/>
          </a:prstGeom>
          <a:solidFill>
            <a:srgbClr val="1E2840"/>
          </a:solidFill>
          <a:ln cap="flat" cmpd="sng" w="1270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9" name="Google Shape;939;p23"/>
          <p:cNvSpPr/>
          <p:nvPr/>
        </p:nvSpPr>
        <p:spPr>
          <a:xfrm>
            <a:off x="2724912" y="1938528"/>
            <a:ext cx="1609344" cy="91440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23"/>
          <p:cNvSpPr/>
          <p:nvPr/>
        </p:nvSpPr>
        <p:spPr>
          <a:xfrm>
            <a:off x="2724912" y="20665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28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41" name="Google Shape;941;p23"/>
          <p:cNvCxnSpPr/>
          <p:nvPr/>
        </p:nvCxnSpPr>
        <p:spPr>
          <a:xfrm>
            <a:off x="2633472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2" name="Google Shape;942;p23"/>
          <p:cNvCxnSpPr/>
          <p:nvPr/>
        </p:nvCxnSpPr>
        <p:spPr>
          <a:xfrm>
            <a:off x="2633472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3" name="Google Shape;943;p23"/>
          <p:cNvCxnSpPr/>
          <p:nvPr/>
        </p:nvCxnSpPr>
        <p:spPr>
          <a:xfrm>
            <a:off x="4480560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4" name="Google Shape;944;p23"/>
          <p:cNvCxnSpPr/>
          <p:nvPr/>
        </p:nvCxnSpPr>
        <p:spPr>
          <a:xfrm>
            <a:off x="4645152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5" name="Google Shape;945;p23"/>
          <p:cNvCxnSpPr/>
          <p:nvPr/>
        </p:nvCxnSpPr>
        <p:spPr>
          <a:xfrm>
            <a:off x="2633472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6" name="Google Shape;946;p23"/>
          <p:cNvCxnSpPr/>
          <p:nvPr/>
        </p:nvCxnSpPr>
        <p:spPr>
          <a:xfrm>
            <a:off x="2633472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7" name="Google Shape;947;p23"/>
          <p:cNvCxnSpPr/>
          <p:nvPr/>
        </p:nvCxnSpPr>
        <p:spPr>
          <a:xfrm>
            <a:off x="4480560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48" name="Google Shape;948;p23"/>
          <p:cNvCxnSpPr/>
          <p:nvPr/>
        </p:nvCxnSpPr>
        <p:spPr>
          <a:xfrm>
            <a:off x="4645152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9" name="Google Shape;949;p23"/>
          <p:cNvSpPr/>
          <p:nvPr/>
        </p:nvSpPr>
        <p:spPr>
          <a:xfrm>
            <a:off x="4809744" y="1143000"/>
            <a:ext cx="2011680" cy="150876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3"/>
          <p:cNvSpPr/>
          <p:nvPr/>
        </p:nvSpPr>
        <p:spPr>
          <a:xfrm>
            <a:off x="4809744" y="1143000"/>
            <a:ext cx="2011680" cy="45720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1" name="Google Shape;951;p23"/>
          <p:cNvSpPr/>
          <p:nvPr/>
        </p:nvSpPr>
        <p:spPr>
          <a:xfrm>
            <a:off x="4901184" y="120700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onsolas"/>
                <a:ea typeface="Consolas"/>
                <a:cs typeface="Consolas"/>
                <a:sym typeface="Consolas"/>
              </a:rPr>
              <a:t>ai_engine.py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2" name="Google Shape;952;p23"/>
          <p:cNvSpPr/>
          <p:nvPr/>
        </p:nvSpPr>
        <p:spPr>
          <a:xfrm>
            <a:off x="4901184" y="142646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85%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3"/>
          <p:cNvSpPr/>
          <p:nvPr/>
        </p:nvSpPr>
        <p:spPr>
          <a:xfrm>
            <a:off x="4901184" y="1938528"/>
            <a:ext cx="1828800" cy="91440"/>
          </a:xfrm>
          <a:prstGeom prst="rect">
            <a:avLst/>
          </a:prstGeom>
          <a:solidFill>
            <a:srgbClr val="1E2840"/>
          </a:solidFill>
          <a:ln cap="flat" cmpd="sng" w="1270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3"/>
          <p:cNvSpPr/>
          <p:nvPr/>
        </p:nvSpPr>
        <p:spPr>
          <a:xfrm>
            <a:off x="4901184" y="1938528"/>
            <a:ext cx="1554480" cy="91440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5" name="Google Shape;955;p23"/>
          <p:cNvSpPr/>
          <p:nvPr/>
        </p:nvSpPr>
        <p:spPr>
          <a:xfrm>
            <a:off x="4901184" y="20665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14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6" name="Google Shape;956;p23"/>
          <p:cNvCxnSpPr/>
          <p:nvPr/>
        </p:nvCxnSpPr>
        <p:spPr>
          <a:xfrm>
            <a:off x="4809744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7" name="Google Shape;957;p23"/>
          <p:cNvCxnSpPr/>
          <p:nvPr/>
        </p:nvCxnSpPr>
        <p:spPr>
          <a:xfrm>
            <a:off x="4809744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8" name="Google Shape;958;p23"/>
          <p:cNvCxnSpPr/>
          <p:nvPr/>
        </p:nvCxnSpPr>
        <p:spPr>
          <a:xfrm>
            <a:off x="6656832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9" name="Google Shape;959;p23"/>
          <p:cNvCxnSpPr/>
          <p:nvPr/>
        </p:nvCxnSpPr>
        <p:spPr>
          <a:xfrm>
            <a:off x="6821424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0" name="Google Shape;960;p23"/>
          <p:cNvCxnSpPr/>
          <p:nvPr/>
        </p:nvCxnSpPr>
        <p:spPr>
          <a:xfrm>
            <a:off x="4809744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1" name="Google Shape;961;p23"/>
          <p:cNvCxnSpPr/>
          <p:nvPr/>
        </p:nvCxnSpPr>
        <p:spPr>
          <a:xfrm>
            <a:off x="4809744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2" name="Google Shape;962;p23"/>
          <p:cNvCxnSpPr/>
          <p:nvPr/>
        </p:nvCxnSpPr>
        <p:spPr>
          <a:xfrm>
            <a:off x="6656832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3" name="Google Shape;963;p23"/>
          <p:cNvCxnSpPr/>
          <p:nvPr/>
        </p:nvCxnSpPr>
        <p:spPr>
          <a:xfrm>
            <a:off x="6821424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4" name="Google Shape;964;p23"/>
          <p:cNvSpPr/>
          <p:nvPr/>
        </p:nvSpPr>
        <p:spPr>
          <a:xfrm>
            <a:off x="6986016" y="1143000"/>
            <a:ext cx="2011680" cy="150876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5" name="Google Shape;965;p23"/>
          <p:cNvSpPr/>
          <p:nvPr/>
        </p:nvSpPr>
        <p:spPr>
          <a:xfrm>
            <a:off x="6986016" y="1143000"/>
            <a:ext cx="2011680" cy="4572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3"/>
          <p:cNvSpPr/>
          <p:nvPr/>
        </p:nvSpPr>
        <p:spPr>
          <a:xfrm>
            <a:off x="7077456" y="1207008"/>
            <a:ext cx="1828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onsolas"/>
              <a:buNone/>
            </a:pPr>
            <a:r>
              <a:rPr b="0" i="0" lang="en" sz="950" u="none" cap="none" strike="noStrike">
                <a:solidFill>
                  <a:srgbClr val="8896B0"/>
                </a:solidFill>
                <a:latin typeface="Consolas"/>
                <a:ea typeface="Consolas"/>
                <a:cs typeface="Consolas"/>
                <a:sym typeface="Consolas"/>
              </a:rPr>
              <a:t>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3"/>
          <p:cNvSpPr/>
          <p:nvPr/>
        </p:nvSpPr>
        <p:spPr>
          <a:xfrm>
            <a:off x="7077456" y="1426464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200"/>
              <a:buFont typeface="Calibri"/>
              <a:buNone/>
            </a:pPr>
            <a:r>
              <a:rPr b="1" i="0" lang="en" sz="32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8" name="Google Shape;968;p23"/>
          <p:cNvSpPr/>
          <p:nvPr/>
        </p:nvSpPr>
        <p:spPr>
          <a:xfrm>
            <a:off x="7077456" y="1938528"/>
            <a:ext cx="1828800" cy="91440"/>
          </a:xfrm>
          <a:prstGeom prst="rect">
            <a:avLst/>
          </a:prstGeom>
          <a:solidFill>
            <a:srgbClr val="1E2840"/>
          </a:solidFill>
          <a:ln cap="flat" cmpd="sng" w="1270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23"/>
          <p:cNvSpPr/>
          <p:nvPr/>
        </p:nvSpPr>
        <p:spPr>
          <a:xfrm>
            <a:off x="7077456" y="1938528"/>
            <a:ext cx="1828800" cy="9144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3"/>
          <p:cNvSpPr/>
          <p:nvPr/>
        </p:nvSpPr>
        <p:spPr>
          <a:xfrm>
            <a:off x="7077456" y="206654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6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71" name="Google Shape;971;p23"/>
          <p:cNvCxnSpPr/>
          <p:nvPr/>
        </p:nvCxnSpPr>
        <p:spPr>
          <a:xfrm>
            <a:off x="6986016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2" name="Google Shape;972;p23"/>
          <p:cNvCxnSpPr/>
          <p:nvPr/>
        </p:nvCxnSpPr>
        <p:spPr>
          <a:xfrm>
            <a:off x="6986016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3" name="Google Shape;973;p23"/>
          <p:cNvCxnSpPr/>
          <p:nvPr/>
        </p:nvCxnSpPr>
        <p:spPr>
          <a:xfrm>
            <a:off x="8833104" y="114300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4" name="Google Shape;974;p23"/>
          <p:cNvCxnSpPr/>
          <p:nvPr/>
        </p:nvCxnSpPr>
        <p:spPr>
          <a:xfrm>
            <a:off x="8997696" y="114300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5" name="Google Shape;975;p23"/>
          <p:cNvCxnSpPr/>
          <p:nvPr/>
        </p:nvCxnSpPr>
        <p:spPr>
          <a:xfrm>
            <a:off x="6986016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6" name="Google Shape;976;p23"/>
          <p:cNvCxnSpPr/>
          <p:nvPr/>
        </p:nvCxnSpPr>
        <p:spPr>
          <a:xfrm>
            <a:off x="6986016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7" name="Google Shape;977;p23"/>
          <p:cNvCxnSpPr/>
          <p:nvPr/>
        </p:nvCxnSpPr>
        <p:spPr>
          <a:xfrm>
            <a:off x="8833104" y="26517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8" name="Google Shape;978;p23"/>
          <p:cNvCxnSpPr/>
          <p:nvPr/>
        </p:nvCxnSpPr>
        <p:spPr>
          <a:xfrm>
            <a:off x="8997696" y="24871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9" name="Google Shape;979;p23"/>
          <p:cNvSpPr/>
          <p:nvPr/>
        </p:nvSpPr>
        <p:spPr>
          <a:xfrm>
            <a:off x="457200" y="2852928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TEST CLASS BREAKDOWN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0" name="Google Shape;980;p23"/>
          <p:cNvSpPr/>
          <p:nvPr/>
        </p:nvSpPr>
        <p:spPr>
          <a:xfrm>
            <a:off x="457200" y="3127248"/>
            <a:ext cx="8229600" cy="274320"/>
          </a:xfrm>
          <a:prstGeom prst="rect">
            <a:avLst/>
          </a:prstGeom>
          <a:solidFill>
            <a:srgbClr val="0F1520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23"/>
          <p:cNvSpPr/>
          <p:nvPr/>
        </p:nvSpPr>
        <p:spPr>
          <a:xfrm>
            <a:off x="530352" y="3209544"/>
            <a:ext cx="109728" cy="109728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3"/>
          <p:cNvSpPr/>
          <p:nvPr/>
        </p:nvSpPr>
        <p:spPr>
          <a:xfrm>
            <a:off x="694944" y="312724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TestLogParser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3"/>
          <p:cNvSpPr/>
          <p:nvPr/>
        </p:nvSpPr>
        <p:spPr>
          <a:xfrm>
            <a:off x="2651760" y="312724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4" name="Google Shape;984;p23"/>
          <p:cNvSpPr/>
          <p:nvPr/>
        </p:nvSpPr>
        <p:spPr>
          <a:xfrm>
            <a:off x="3063240" y="31272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Parse, normalize, 3 formats, edge cases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23"/>
          <p:cNvSpPr/>
          <p:nvPr/>
        </p:nvSpPr>
        <p:spPr>
          <a:xfrm>
            <a:off x="7699248" y="312724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4E566E"/>
                </a:solidFill>
                <a:latin typeface="Consolas"/>
                <a:ea typeface="Consolas"/>
                <a:cs typeface="Consolas"/>
                <a:sym typeface="Consolas"/>
              </a:rPr>
              <a:t>0.04s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23"/>
          <p:cNvSpPr/>
          <p:nvPr/>
        </p:nvSpPr>
        <p:spPr>
          <a:xfrm>
            <a:off x="457200" y="3419856"/>
            <a:ext cx="8229600" cy="274320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3"/>
          <p:cNvSpPr/>
          <p:nvPr/>
        </p:nvSpPr>
        <p:spPr>
          <a:xfrm>
            <a:off x="530352" y="3502152"/>
            <a:ext cx="109728" cy="109728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8" name="Google Shape;988;p23"/>
          <p:cNvSpPr/>
          <p:nvPr/>
        </p:nvSpPr>
        <p:spPr>
          <a:xfrm>
            <a:off x="694944" y="3419856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TestFingerprinting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23"/>
          <p:cNvSpPr/>
          <p:nvPr/>
        </p:nvSpPr>
        <p:spPr>
          <a:xfrm>
            <a:off x="2651760" y="3419856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200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0" name="Google Shape;990;p23"/>
          <p:cNvSpPr/>
          <p:nvPr/>
        </p:nvSpPr>
        <p:spPr>
          <a:xfrm>
            <a:off x="3063240" y="341985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Variable stripping, identical message matching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3"/>
          <p:cNvSpPr/>
          <p:nvPr/>
        </p:nvSpPr>
        <p:spPr>
          <a:xfrm>
            <a:off x="7699248" y="3419856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4E566E"/>
                </a:solidFill>
                <a:latin typeface="Consolas"/>
                <a:ea typeface="Consolas"/>
                <a:cs typeface="Consolas"/>
                <a:sym typeface="Consolas"/>
              </a:rPr>
              <a:t>0.01s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3"/>
          <p:cNvSpPr/>
          <p:nvPr/>
        </p:nvSpPr>
        <p:spPr>
          <a:xfrm>
            <a:off x="457200" y="3712464"/>
            <a:ext cx="8229600" cy="274320"/>
          </a:xfrm>
          <a:prstGeom prst="rect">
            <a:avLst/>
          </a:prstGeom>
          <a:solidFill>
            <a:srgbClr val="0F1520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3"/>
          <p:cNvSpPr/>
          <p:nvPr/>
        </p:nvSpPr>
        <p:spPr>
          <a:xfrm>
            <a:off x="530352" y="3794760"/>
            <a:ext cx="109728" cy="109728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4" name="Google Shape;994;p23"/>
          <p:cNvSpPr/>
          <p:nvPr/>
        </p:nvSpPr>
        <p:spPr>
          <a:xfrm>
            <a:off x="694944" y="3712464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TestSignatureMatching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5" name="Google Shape;995;p23"/>
          <p:cNvSpPr/>
          <p:nvPr/>
        </p:nvSpPr>
        <p:spPr>
          <a:xfrm>
            <a:off x="2651760" y="3712464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6" name="Google Shape;996;p23"/>
          <p:cNvSpPr/>
          <p:nvPr/>
        </p:nvSpPr>
        <p:spPr>
          <a:xfrm>
            <a:off x="3063240" y="371246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Pattern match, structural, false-positive guard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3"/>
          <p:cNvSpPr/>
          <p:nvPr/>
        </p:nvSpPr>
        <p:spPr>
          <a:xfrm>
            <a:off x="7699248" y="371246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4E566E"/>
                </a:solidFill>
                <a:latin typeface="Consolas"/>
                <a:ea typeface="Consolas"/>
                <a:cs typeface="Consolas"/>
                <a:sym typeface="Consolas"/>
              </a:rPr>
              <a:t>0.02s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3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3"/>
          <p:cNvSpPr/>
          <p:nvPr/>
        </p:nvSpPr>
        <p:spPr>
          <a:xfrm>
            <a:off x="530352" y="4087368"/>
            <a:ext cx="109728" cy="109728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0" name="Google Shape;1000;p23"/>
          <p:cNvSpPr/>
          <p:nvPr/>
        </p:nvSpPr>
        <p:spPr>
          <a:xfrm>
            <a:off x="694944" y="4005072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TestAnalyzer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1" name="Google Shape;1001;p23"/>
          <p:cNvSpPr/>
          <p:nvPr/>
        </p:nvSpPr>
        <p:spPr>
          <a:xfrm>
            <a:off x="2651760" y="4005072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1" lang="en" sz="1200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3"/>
          <p:cNvSpPr/>
          <p:nvPr/>
        </p:nvSpPr>
        <p:spPr>
          <a:xfrm>
            <a:off x="3063240" y="400507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Counts, clustering, timeline sort, serialization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3" name="Google Shape;1003;p23"/>
          <p:cNvSpPr/>
          <p:nvPr/>
        </p:nvSpPr>
        <p:spPr>
          <a:xfrm>
            <a:off x="7699248" y="4005072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4E566E"/>
                </a:solidFill>
                <a:latin typeface="Consolas"/>
                <a:ea typeface="Consolas"/>
                <a:cs typeface="Consolas"/>
                <a:sym typeface="Consolas"/>
              </a:rPr>
              <a:t>0.08s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3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solidFill>
            <a:srgbClr val="0F1520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3"/>
          <p:cNvSpPr/>
          <p:nvPr/>
        </p:nvSpPr>
        <p:spPr>
          <a:xfrm>
            <a:off x="530352" y="4379976"/>
            <a:ext cx="109728" cy="109728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6" name="Google Shape;1006;p23"/>
          <p:cNvSpPr/>
          <p:nvPr/>
        </p:nvSpPr>
        <p:spPr>
          <a:xfrm>
            <a:off x="694944" y="4297680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TestAIEngine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7" name="Google Shape;1007;p23"/>
          <p:cNvSpPr/>
          <p:nvPr/>
        </p:nvSpPr>
        <p:spPr>
          <a:xfrm>
            <a:off x="2651760" y="4297680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lang="en" sz="1200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3"/>
          <p:cNvSpPr/>
          <p:nvPr/>
        </p:nvSpPr>
        <p:spPr>
          <a:xfrm>
            <a:off x="3063240" y="42976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Fallback, prompt, severity, idempotency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9" name="Google Shape;1009;p23"/>
          <p:cNvSpPr/>
          <p:nvPr/>
        </p:nvSpPr>
        <p:spPr>
          <a:xfrm>
            <a:off x="7699248" y="429768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4E566E"/>
                </a:solidFill>
                <a:latin typeface="Consolas"/>
                <a:ea typeface="Consolas"/>
                <a:cs typeface="Consolas"/>
                <a:sym typeface="Consolas"/>
              </a:rPr>
              <a:t>0.03s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3"/>
          <p:cNvSpPr/>
          <p:nvPr/>
        </p:nvSpPr>
        <p:spPr>
          <a:xfrm>
            <a:off x="457200" y="4590288"/>
            <a:ext cx="8229600" cy="274320"/>
          </a:xfrm>
          <a:prstGeom prst="rect">
            <a:avLst/>
          </a:prstGeom>
          <a:solidFill>
            <a:srgbClr val="141B2A"/>
          </a:solidFill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3"/>
          <p:cNvSpPr/>
          <p:nvPr/>
        </p:nvSpPr>
        <p:spPr>
          <a:xfrm>
            <a:off x="530352" y="4672584"/>
            <a:ext cx="109728" cy="109728"/>
          </a:xfrm>
          <a:prstGeom prst="ellipse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23"/>
          <p:cNvSpPr/>
          <p:nvPr/>
        </p:nvSpPr>
        <p:spPr>
          <a:xfrm>
            <a:off x="694944" y="4590288"/>
            <a:ext cx="1920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950"/>
              <a:buFont typeface="Consolas"/>
              <a:buNone/>
            </a:pPr>
            <a:r>
              <a:rPr b="1" i="0" lang="en" sz="950" u="none" cap="none" strike="noStrike">
                <a:solidFill>
                  <a:srgbClr val="E8EDF8"/>
                </a:solidFill>
                <a:latin typeface="Consolas"/>
                <a:ea typeface="Consolas"/>
                <a:cs typeface="Consolas"/>
                <a:sym typeface="Consolas"/>
              </a:rPr>
              <a:t>TestIntegration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3" name="Google Shape;1013;p23"/>
          <p:cNvSpPr/>
          <p:nvPr/>
        </p:nvSpPr>
        <p:spPr>
          <a:xfrm>
            <a:off x="2651760" y="4590288"/>
            <a:ext cx="3474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" sz="1200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3"/>
          <p:cNvSpPr/>
          <p:nvPr/>
        </p:nvSpPr>
        <p:spPr>
          <a:xfrm>
            <a:off x="3063240" y="459028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Full 3-file pipeline, idempotency, empty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5" name="Google Shape;1015;p23"/>
          <p:cNvSpPr/>
          <p:nvPr/>
        </p:nvSpPr>
        <p:spPr>
          <a:xfrm>
            <a:off x="7699248" y="4590288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900"/>
              <a:buFont typeface="Consolas"/>
              <a:buNone/>
            </a:pPr>
            <a:r>
              <a:rPr b="0" i="0" lang="en" sz="900" u="none" cap="none" strike="noStrike">
                <a:solidFill>
                  <a:srgbClr val="4E566E"/>
                </a:solidFill>
                <a:latin typeface="Consolas"/>
                <a:ea typeface="Consolas"/>
                <a:cs typeface="Consolas"/>
                <a:sym typeface="Consolas"/>
              </a:rPr>
              <a:t>0.12s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3"/>
          <p:cNvSpPr/>
          <p:nvPr/>
        </p:nvSpPr>
        <p:spPr>
          <a:xfrm>
            <a:off x="457200" y="4882896"/>
            <a:ext cx="8229600" cy="310896"/>
          </a:xfrm>
          <a:prstGeom prst="rect">
            <a:avLst/>
          </a:prstGeom>
          <a:solidFill>
            <a:srgbClr val="28D47A">
              <a:alpha val="12156"/>
            </a:srgbClr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3"/>
          <p:cNvSpPr/>
          <p:nvPr/>
        </p:nvSpPr>
        <p:spPr>
          <a:xfrm>
            <a:off x="694944" y="4882896"/>
            <a:ext cx="19202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TOTAL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3"/>
          <p:cNvSpPr/>
          <p:nvPr/>
        </p:nvSpPr>
        <p:spPr>
          <a:xfrm>
            <a:off x="2651760" y="4882896"/>
            <a:ext cx="347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9" name="Google Shape;1019;p23"/>
          <p:cNvSpPr/>
          <p:nvPr/>
        </p:nvSpPr>
        <p:spPr>
          <a:xfrm>
            <a:off x="3063240" y="4882896"/>
            <a:ext cx="4572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0 failures  ·  0 errors  ·  avg coverage 88%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3"/>
          <p:cNvSpPr/>
          <p:nvPr/>
        </p:nvSpPr>
        <p:spPr>
          <a:xfrm>
            <a:off x="7699248" y="4882896"/>
            <a:ext cx="9144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onsolas"/>
              <a:buNone/>
            </a:pPr>
            <a:r>
              <a:rPr b="0" i="0" lang="en" sz="1000" u="none" cap="none" strike="noStrike">
                <a:solidFill>
                  <a:srgbClr val="28D47A"/>
                </a:solidFill>
                <a:latin typeface="Consolas"/>
                <a:ea typeface="Consolas"/>
                <a:cs typeface="Consolas"/>
                <a:sym typeface="Consolas"/>
              </a:rPr>
              <a:t>0.30s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6" name="Google Shape;1026;p24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7" name="Google Shape;1027;p24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8" name="Google Shape;1028;p24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9" name="Google Shape;1029;p24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0" name="Google Shape;1030;p24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1" name="Google Shape;1031;p24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2" name="Google Shape;1032;p24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3" name="Google Shape;1033;p24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4" name="Google Shape;1034;p24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5" name="Google Shape;1035;p24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6" name="Google Shape;1036;p24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7" name="Google Shape;1037;p24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8" name="Google Shape;1038;p24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39" name="Google Shape;1039;p24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0" name="Google Shape;1040;p24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1" name="Google Shape;1041;p24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2" name="Google Shape;1042;p24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3" name="Google Shape;1043;p24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4" name="Google Shape;1044;p24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24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24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24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24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9" name="Google Shape;1049;p24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0" name="Google Shape;1050;p24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1" name="Google Shape;1051;p24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2" name="Google Shape;1052;p24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3" name="Google Shape;1053;p24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4" name="Google Shape;1054;p24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5" name="Google Shape;1055;p24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6" name="Google Shape;1056;p24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7" name="Google Shape;1057;p24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8" name="Google Shape;1058;p24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59" name="Google Shape;1059;p24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0" name="Google Shape;1060;p24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1" name="Google Shape;1061;p24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24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24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4" name="Google Shape;1064;p24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5" name="Google Shape;1065;p24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6" name="Google Shape;1066;p24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7" name="Google Shape;1067;p2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4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05 — CORRECTNESS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4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How Good Is This Solution?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0" name="Google Shape;1070;p24"/>
          <p:cNvSpPr/>
          <p:nvPr/>
        </p:nvSpPr>
        <p:spPr>
          <a:xfrm>
            <a:off x="457200" y="1234440"/>
            <a:ext cx="2651760" cy="29260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1" name="Google Shape;1071;p24"/>
          <p:cNvSpPr/>
          <p:nvPr/>
        </p:nvSpPr>
        <p:spPr>
          <a:xfrm>
            <a:off x="457200" y="1234440"/>
            <a:ext cx="265176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4"/>
          <p:cNvSpPr/>
          <p:nvPr/>
        </p:nvSpPr>
        <p:spPr>
          <a:xfrm>
            <a:off x="493803" y="1499620"/>
            <a:ext cx="243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Idempotency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4"/>
          <p:cNvSpPr/>
          <p:nvPr/>
        </p:nvSpPr>
        <p:spPr>
          <a:xfrm>
            <a:off x="585228" y="2226548"/>
            <a:ext cx="2432400" cy="6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Same log files always produce the same output. No random seeds, no time-dependent logic, no side effects.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4" name="Google Shape;1074;p24"/>
          <p:cNvSpPr/>
          <p:nvPr/>
        </p:nvSpPr>
        <p:spPr>
          <a:xfrm>
            <a:off x="566928" y="2880360"/>
            <a:ext cx="2432304" cy="256032"/>
          </a:xfrm>
          <a:prstGeom prst="rect">
            <a:avLst/>
          </a:prstGeom>
          <a:solidFill>
            <a:srgbClr val="3AB8F5">
              <a:alpha val="12156"/>
            </a:srgbClr>
          </a:solidFill>
          <a:ln cap="flat" cmpd="sng" w="9525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4"/>
          <p:cNvSpPr/>
          <p:nvPr/>
        </p:nvSpPr>
        <p:spPr>
          <a:xfrm>
            <a:off x="585216" y="290779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3AB8F5"/>
                </a:solidFill>
                <a:latin typeface="Consolas"/>
                <a:ea typeface="Consolas"/>
                <a:cs typeface="Consolas"/>
                <a:sym typeface="Consolas"/>
              </a:rPr>
              <a:t>test_output_structure_constant_across_runs()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4"/>
          <p:cNvSpPr/>
          <p:nvPr/>
        </p:nvSpPr>
        <p:spPr>
          <a:xfrm>
            <a:off x="566928" y="3200400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Critical for reproducible incident reports and regression testing.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7" name="Google Shape;1077;p24"/>
          <p:cNvCxnSpPr/>
          <p:nvPr/>
        </p:nvCxnSpPr>
        <p:spPr>
          <a:xfrm>
            <a:off x="457200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8" name="Google Shape;1078;p24"/>
          <p:cNvCxnSpPr/>
          <p:nvPr/>
        </p:nvCxnSpPr>
        <p:spPr>
          <a:xfrm>
            <a:off x="45720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24"/>
          <p:cNvCxnSpPr/>
          <p:nvPr/>
        </p:nvCxnSpPr>
        <p:spPr>
          <a:xfrm>
            <a:off x="2944368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24"/>
          <p:cNvCxnSpPr/>
          <p:nvPr/>
        </p:nvCxnSpPr>
        <p:spPr>
          <a:xfrm>
            <a:off x="310896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24"/>
          <p:cNvCxnSpPr/>
          <p:nvPr/>
        </p:nvCxnSpPr>
        <p:spPr>
          <a:xfrm>
            <a:off x="457200" y="39959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2" name="Google Shape;1082;p24"/>
          <p:cNvCxnSpPr/>
          <p:nvPr/>
        </p:nvCxnSpPr>
        <p:spPr>
          <a:xfrm>
            <a:off x="457200" y="41605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3" name="Google Shape;1083;p24"/>
          <p:cNvCxnSpPr/>
          <p:nvPr/>
        </p:nvCxnSpPr>
        <p:spPr>
          <a:xfrm>
            <a:off x="2944368" y="41605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4" name="Google Shape;1084;p24"/>
          <p:cNvCxnSpPr/>
          <p:nvPr/>
        </p:nvCxnSpPr>
        <p:spPr>
          <a:xfrm>
            <a:off x="3108960" y="39959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24"/>
          <p:cNvSpPr/>
          <p:nvPr/>
        </p:nvSpPr>
        <p:spPr>
          <a:xfrm>
            <a:off x="3291840" y="1234440"/>
            <a:ext cx="2651760" cy="29260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6" name="Google Shape;1086;p24"/>
          <p:cNvSpPr/>
          <p:nvPr/>
        </p:nvSpPr>
        <p:spPr>
          <a:xfrm>
            <a:off x="3291840" y="1234440"/>
            <a:ext cx="265176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7" name="Google Shape;1087;p24"/>
          <p:cNvSpPr/>
          <p:nvPr/>
        </p:nvSpPr>
        <p:spPr>
          <a:xfrm>
            <a:off x="3355843" y="1499620"/>
            <a:ext cx="243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Zero False Positives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8" name="Google Shape;1088;p24"/>
          <p:cNvSpPr/>
          <p:nvPr/>
        </p:nvSpPr>
        <p:spPr>
          <a:xfrm>
            <a:off x="3401568" y="2212848"/>
            <a:ext cx="24323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All 8 signatures tested against a 'healthy app' log string that contains no failures. None fire.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9" name="Google Shape;1089;p24"/>
          <p:cNvSpPr/>
          <p:nvPr/>
        </p:nvSpPr>
        <p:spPr>
          <a:xfrm>
            <a:off x="3401568" y="2880360"/>
            <a:ext cx="2432304" cy="256032"/>
          </a:xfrm>
          <a:prstGeom prst="rect">
            <a:avLst/>
          </a:prstGeom>
          <a:solidFill>
            <a:srgbClr val="28D47A">
              <a:alpha val="12156"/>
            </a:srgbClr>
          </a:solidFill>
          <a:ln cap="flat" cmpd="sng" w="9525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0" name="Google Shape;1090;p24"/>
          <p:cNvSpPr/>
          <p:nvPr/>
        </p:nvSpPr>
        <p:spPr>
          <a:xfrm>
            <a:off x="3419856" y="290779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28D47A"/>
                </a:solidFill>
                <a:latin typeface="Consolas"/>
                <a:ea typeface="Consolas"/>
                <a:cs typeface="Consolas"/>
                <a:sym typeface="Consolas"/>
              </a:rPr>
              <a:t>test_no_false_positives_on_clean_log()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1" name="Google Shape;1091;p24"/>
          <p:cNvSpPr/>
          <p:nvPr/>
        </p:nvSpPr>
        <p:spPr>
          <a:xfrm>
            <a:off x="3401568" y="3200400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Signal-to-noise ratio is the whole point. A noisy tool gets ignored.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2" name="Google Shape;1092;p24"/>
          <p:cNvCxnSpPr/>
          <p:nvPr/>
        </p:nvCxnSpPr>
        <p:spPr>
          <a:xfrm>
            <a:off x="3291840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24"/>
          <p:cNvCxnSpPr/>
          <p:nvPr/>
        </p:nvCxnSpPr>
        <p:spPr>
          <a:xfrm>
            <a:off x="329184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24"/>
          <p:cNvCxnSpPr/>
          <p:nvPr/>
        </p:nvCxnSpPr>
        <p:spPr>
          <a:xfrm>
            <a:off x="5779008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5" name="Google Shape;1095;p24"/>
          <p:cNvCxnSpPr/>
          <p:nvPr/>
        </p:nvCxnSpPr>
        <p:spPr>
          <a:xfrm>
            <a:off x="594360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6" name="Google Shape;1096;p24"/>
          <p:cNvCxnSpPr/>
          <p:nvPr/>
        </p:nvCxnSpPr>
        <p:spPr>
          <a:xfrm>
            <a:off x="3291840" y="39959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7" name="Google Shape;1097;p24"/>
          <p:cNvCxnSpPr/>
          <p:nvPr/>
        </p:nvCxnSpPr>
        <p:spPr>
          <a:xfrm>
            <a:off x="3291840" y="41605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8" name="Google Shape;1098;p24"/>
          <p:cNvCxnSpPr/>
          <p:nvPr/>
        </p:nvCxnSpPr>
        <p:spPr>
          <a:xfrm>
            <a:off x="5779008" y="41605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9" name="Google Shape;1099;p24"/>
          <p:cNvCxnSpPr/>
          <p:nvPr/>
        </p:nvCxnSpPr>
        <p:spPr>
          <a:xfrm>
            <a:off x="5943600" y="39959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00" name="Google Shape;1100;p24"/>
          <p:cNvSpPr/>
          <p:nvPr/>
        </p:nvSpPr>
        <p:spPr>
          <a:xfrm>
            <a:off x="6126480" y="1234440"/>
            <a:ext cx="2651760" cy="292608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4"/>
          <p:cNvSpPr/>
          <p:nvPr/>
        </p:nvSpPr>
        <p:spPr>
          <a:xfrm>
            <a:off x="6126480" y="1234440"/>
            <a:ext cx="2651760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2" name="Google Shape;1102;p24"/>
          <p:cNvSpPr/>
          <p:nvPr/>
        </p:nvSpPr>
        <p:spPr>
          <a:xfrm>
            <a:off x="6144783" y="1499620"/>
            <a:ext cx="24324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300"/>
              <a:buFont typeface="Calibri"/>
              <a:buNone/>
            </a:pPr>
            <a:r>
              <a:rPr b="1" i="0" lang="en" sz="13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Graceful Degradation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3" name="Google Shape;1103;p24"/>
          <p:cNvSpPr/>
          <p:nvPr/>
        </p:nvSpPr>
        <p:spPr>
          <a:xfrm>
            <a:off x="6236208" y="2212848"/>
            <a:ext cx="2432304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0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Garbage input, empty files, missing crash reports, truncated logs — none crash the pipeline.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6236208" y="2880360"/>
            <a:ext cx="2432304" cy="256032"/>
          </a:xfrm>
          <a:prstGeom prst="rect">
            <a:avLst/>
          </a:prstGeom>
          <a:solidFill>
            <a:srgbClr val="E8B84B">
              <a:alpha val="12156"/>
            </a:srgbClr>
          </a:solidFill>
          <a:ln cap="flat" cmpd="sng" w="9525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4"/>
          <p:cNvSpPr/>
          <p:nvPr/>
        </p:nvSpPr>
        <p:spPr>
          <a:xfrm>
            <a:off x="6254496" y="2907792"/>
            <a:ext cx="239572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onsolas"/>
              <a:buNone/>
            </a:pPr>
            <a:r>
              <a:rPr b="0" i="0" lang="en" sz="8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TestEdgeCases — 8 edge case tests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6236208" y="3200400"/>
            <a:ext cx="2432304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50"/>
              <a:buFont typeface="Calibri"/>
              <a:buNone/>
            </a:pPr>
            <a:r>
              <a:rPr b="0" i="1" lang="en" sz="95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Enterprise environments are messy. The tool must survive real-world inputs.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07" name="Google Shape;1107;p24"/>
          <p:cNvCxnSpPr/>
          <p:nvPr/>
        </p:nvCxnSpPr>
        <p:spPr>
          <a:xfrm>
            <a:off x="6126480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8" name="Google Shape;1108;p24"/>
          <p:cNvCxnSpPr/>
          <p:nvPr/>
        </p:nvCxnSpPr>
        <p:spPr>
          <a:xfrm>
            <a:off x="612648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24"/>
          <p:cNvCxnSpPr/>
          <p:nvPr/>
        </p:nvCxnSpPr>
        <p:spPr>
          <a:xfrm>
            <a:off x="8613648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24"/>
          <p:cNvCxnSpPr/>
          <p:nvPr/>
        </p:nvCxnSpPr>
        <p:spPr>
          <a:xfrm>
            <a:off x="877824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24"/>
          <p:cNvCxnSpPr/>
          <p:nvPr/>
        </p:nvCxnSpPr>
        <p:spPr>
          <a:xfrm>
            <a:off x="6126480" y="39959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24"/>
          <p:cNvCxnSpPr/>
          <p:nvPr/>
        </p:nvCxnSpPr>
        <p:spPr>
          <a:xfrm>
            <a:off x="6126480" y="41605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3" name="Google Shape;1113;p24"/>
          <p:cNvCxnSpPr/>
          <p:nvPr/>
        </p:nvCxnSpPr>
        <p:spPr>
          <a:xfrm>
            <a:off x="8613648" y="41605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4" name="Google Shape;1114;p24"/>
          <p:cNvCxnSpPr/>
          <p:nvPr/>
        </p:nvCxnSpPr>
        <p:spPr>
          <a:xfrm>
            <a:off x="8778240" y="399592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15" name="Google Shape;1115;p24"/>
          <p:cNvSpPr/>
          <p:nvPr/>
        </p:nvSpPr>
        <p:spPr>
          <a:xfrm>
            <a:off x="457200" y="4315968"/>
            <a:ext cx="8229600" cy="548640"/>
          </a:xfrm>
          <a:prstGeom prst="rect">
            <a:avLst/>
          </a:prstGeom>
          <a:solidFill>
            <a:srgbClr val="141B2A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24"/>
          <p:cNvSpPr/>
          <p:nvPr/>
        </p:nvSpPr>
        <p:spPr>
          <a:xfrm>
            <a:off x="457200" y="4315968"/>
            <a:ext cx="54864" cy="548640"/>
          </a:xfrm>
          <a:prstGeom prst="rect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640080" y="4361688"/>
            <a:ext cx="20116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KNOWN LIMITATIONS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4"/>
          <p:cNvSpPr/>
          <p:nvPr/>
        </p:nvSpPr>
        <p:spPr>
          <a:xfrm>
            <a:off x="640080" y="4553712"/>
            <a:ext cx="7909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50"/>
              <a:buFont typeface="Calibri"/>
              <a:buNone/>
            </a:pPr>
            <a:r>
              <a:rPr b="0" i="0" lang="en" sz="95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AI output may be confident but wrong if signatures misfire  ·  8 signatures don't cover all edge cases  ·  Human review required before executing remediations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4" name="Google Shape;1124;p25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25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25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25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8" name="Google Shape;1128;p25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9" name="Google Shape;1129;p25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0" name="Google Shape;1130;p25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1" name="Google Shape;1131;p25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2" name="Google Shape;1132;p25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3" name="Google Shape;1133;p25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25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25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25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25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8" name="Google Shape;1138;p25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9" name="Google Shape;1139;p25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0" name="Google Shape;1140;p25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1" name="Google Shape;1141;p25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2" name="Google Shape;1142;p25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3" name="Google Shape;1143;p25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4" name="Google Shape;1144;p25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5" name="Google Shape;1145;p25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6" name="Google Shape;1146;p25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7" name="Google Shape;1147;p25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8" name="Google Shape;1148;p25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9" name="Google Shape;1149;p25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0" name="Google Shape;1150;p25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1" name="Google Shape;1151;p25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2" name="Google Shape;1152;p25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3" name="Google Shape;1153;p25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4" name="Google Shape;1154;p25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5" name="Google Shape;1155;p25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6" name="Google Shape;1156;p25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7" name="Google Shape;1157;p25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25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25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25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1" name="Google Shape;1161;p25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2" name="Google Shape;1162;p25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3" name="Google Shape;1163;p25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4" name="Google Shape;1164;p25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5" name="Google Shape;1165;p2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5"/>
          <p:cNvSpPr/>
          <p:nvPr/>
        </p:nvSpPr>
        <p:spPr>
          <a:xfrm>
            <a:off x="457200" y="182880"/>
            <a:ext cx="73152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06 — QUANTITATIVE REPORT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5"/>
          <p:cNvSpPr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800"/>
              <a:buFont typeface="Calibri"/>
              <a:buNone/>
            </a:pPr>
            <a:r>
              <a:rPr b="1" i="0" lang="en" sz="38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By The Numbers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25"/>
          <p:cNvSpPr/>
          <p:nvPr/>
        </p:nvSpPr>
        <p:spPr>
          <a:xfrm>
            <a:off x="457200" y="109728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9" name="Google Shape;1169;p25"/>
          <p:cNvSpPr/>
          <p:nvPr/>
        </p:nvSpPr>
        <p:spPr>
          <a:xfrm>
            <a:off x="457200" y="1097280"/>
            <a:ext cx="1920240" cy="36576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5"/>
          <p:cNvSpPr/>
          <p:nvPr/>
        </p:nvSpPr>
        <p:spPr>
          <a:xfrm>
            <a:off x="457200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5"/>
          <p:cNvSpPr/>
          <p:nvPr/>
        </p:nvSpPr>
        <p:spPr>
          <a:xfrm>
            <a:off x="457200" y="16916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Log Entries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2" name="Google Shape;1172;p25"/>
          <p:cNvSpPr/>
          <p:nvPr/>
        </p:nvSpPr>
        <p:spPr>
          <a:xfrm>
            <a:off x="457200" y="186537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Across 3 files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5"/>
          <p:cNvSpPr/>
          <p:nvPr/>
        </p:nvSpPr>
        <p:spPr>
          <a:xfrm>
            <a:off x="2633472" y="109728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5"/>
          <p:cNvSpPr/>
          <p:nvPr/>
        </p:nvSpPr>
        <p:spPr>
          <a:xfrm>
            <a:off x="2633472" y="1097280"/>
            <a:ext cx="1920240" cy="36576"/>
          </a:xfrm>
          <a:prstGeom prst="rect">
            <a:avLst/>
          </a:prstGeom>
          <a:solidFill>
            <a:srgbClr val="E84545"/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5"/>
          <p:cNvSpPr/>
          <p:nvPr/>
        </p:nvSpPr>
        <p:spPr>
          <a:xfrm>
            <a:off x="2633472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23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5"/>
          <p:cNvSpPr/>
          <p:nvPr/>
        </p:nvSpPr>
        <p:spPr>
          <a:xfrm>
            <a:off x="2633472" y="16916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Errors Detected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5"/>
          <p:cNvSpPr/>
          <p:nvPr/>
        </p:nvSpPr>
        <p:spPr>
          <a:xfrm>
            <a:off x="2633472" y="186537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ERROR + CRITICAL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25"/>
          <p:cNvSpPr/>
          <p:nvPr/>
        </p:nvSpPr>
        <p:spPr>
          <a:xfrm>
            <a:off x="4809744" y="109728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9" name="Google Shape;1179;p25"/>
          <p:cNvSpPr/>
          <p:nvPr/>
        </p:nvSpPr>
        <p:spPr>
          <a:xfrm>
            <a:off x="4809744" y="1097280"/>
            <a:ext cx="192024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5"/>
          <p:cNvSpPr/>
          <p:nvPr/>
        </p:nvSpPr>
        <p:spPr>
          <a:xfrm>
            <a:off x="4809744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5"/>
          <p:cNvSpPr/>
          <p:nvPr/>
        </p:nvSpPr>
        <p:spPr>
          <a:xfrm>
            <a:off x="4809744" y="16916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Error Clusters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2" name="Google Shape;1182;p25"/>
          <p:cNvSpPr/>
          <p:nvPr/>
        </p:nvSpPr>
        <p:spPr>
          <a:xfrm>
            <a:off x="4809744" y="186537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After fingerprinting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5"/>
          <p:cNvSpPr/>
          <p:nvPr/>
        </p:nvSpPr>
        <p:spPr>
          <a:xfrm>
            <a:off x="6986016" y="1097280"/>
            <a:ext cx="1920240" cy="1005840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4" name="Google Shape;1184;p25"/>
          <p:cNvSpPr/>
          <p:nvPr/>
        </p:nvSpPr>
        <p:spPr>
          <a:xfrm>
            <a:off x="6986016" y="1097280"/>
            <a:ext cx="1920240" cy="36576"/>
          </a:xfrm>
          <a:prstGeom prst="rect">
            <a:avLst/>
          </a:prstGeom>
          <a:solidFill>
            <a:srgbClr val="F07C3A"/>
          </a:solidFill>
          <a:ln cap="flat" cmpd="sng" w="12700">
            <a:solidFill>
              <a:srgbClr val="F07C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5" name="Google Shape;1185;p25"/>
          <p:cNvSpPr/>
          <p:nvPr/>
        </p:nvSpPr>
        <p:spPr>
          <a:xfrm>
            <a:off x="6986016" y="118872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3600"/>
              <a:buFont typeface="Calibri"/>
              <a:buNone/>
            </a:pPr>
            <a:r>
              <a:rPr b="1" i="0" lang="en" sz="36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7/8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6" name="Google Shape;1186;p25"/>
          <p:cNvSpPr/>
          <p:nvPr/>
        </p:nvSpPr>
        <p:spPr>
          <a:xfrm>
            <a:off x="6986016" y="1691640"/>
            <a:ext cx="19202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Sigs Matched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7" name="Google Shape;1187;p25"/>
          <p:cNvSpPr/>
          <p:nvPr/>
        </p:nvSpPr>
        <p:spPr>
          <a:xfrm>
            <a:off x="6986016" y="1865376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E566E"/>
              </a:buClr>
              <a:buSzPts val="800"/>
              <a:buFont typeface="Calibri"/>
              <a:buNone/>
            </a:pPr>
            <a:r>
              <a:rPr b="0" i="1" lang="en" sz="800" u="none" cap="none" strike="noStrike">
                <a:solidFill>
                  <a:srgbClr val="4E566E"/>
                </a:solidFill>
                <a:latin typeface="Calibri"/>
                <a:ea typeface="Calibri"/>
                <a:cs typeface="Calibri"/>
                <a:sym typeface="Calibri"/>
              </a:rPr>
              <a:t>87.5% detection rate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25"/>
          <p:cNvSpPr/>
          <p:nvPr/>
        </p:nvSpPr>
        <p:spPr>
          <a:xfrm>
            <a:off x="457200" y="2304288"/>
            <a:ext cx="4023360" cy="25420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25"/>
          <p:cNvSpPr/>
          <p:nvPr/>
        </p:nvSpPr>
        <p:spPr>
          <a:xfrm>
            <a:off x="457200" y="2304288"/>
            <a:ext cx="4023360" cy="54864"/>
          </a:xfrm>
          <a:prstGeom prst="rect">
            <a:avLst/>
          </a:prstGeom>
          <a:solidFill>
            <a:srgbClr val="3AB8F5"/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5"/>
          <p:cNvSpPr/>
          <p:nvPr/>
        </p:nvSpPr>
        <p:spPr>
          <a:xfrm>
            <a:off x="566928" y="2414016"/>
            <a:ext cx="3803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SAMPLE INCIDENT BREAKDOWN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5"/>
          <p:cNvSpPr/>
          <p:nvPr/>
        </p:nvSpPr>
        <p:spPr>
          <a:xfrm>
            <a:off x="566928" y="268833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5"/>
          <p:cNvSpPr/>
          <p:nvPr/>
        </p:nvSpPr>
        <p:spPr>
          <a:xfrm>
            <a:off x="3474720" y="26883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3" name="Google Shape;1193;p25"/>
          <p:cNvCxnSpPr/>
          <p:nvPr/>
        </p:nvCxnSpPr>
        <p:spPr>
          <a:xfrm>
            <a:off x="548640" y="287121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4" name="Google Shape;1194;p25"/>
          <p:cNvSpPr/>
          <p:nvPr/>
        </p:nvSpPr>
        <p:spPr>
          <a:xfrm>
            <a:off x="566928" y="287121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Total log entries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25"/>
          <p:cNvSpPr/>
          <p:nvPr/>
        </p:nvSpPr>
        <p:spPr>
          <a:xfrm>
            <a:off x="3474720" y="28712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55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6" name="Google Shape;1196;p25"/>
          <p:cNvCxnSpPr/>
          <p:nvPr/>
        </p:nvCxnSpPr>
        <p:spPr>
          <a:xfrm>
            <a:off x="548640" y="305409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7" name="Google Shape;1197;p25"/>
          <p:cNvSpPr/>
          <p:nvPr/>
        </p:nvSpPr>
        <p:spPr>
          <a:xfrm>
            <a:off x="566928" y="305409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ERROR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5"/>
          <p:cNvSpPr/>
          <p:nvPr/>
        </p:nvSpPr>
        <p:spPr>
          <a:xfrm>
            <a:off x="3474720" y="305409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99" name="Google Shape;1199;p25"/>
          <p:cNvCxnSpPr/>
          <p:nvPr/>
        </p:nvCxnSpPr>
        <p:spPr>
          <a:xfrm>
            <a:off x="548640" y="323697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0" name="Google Shape;1200;p25"/>
          <p:cNvSpPr/>
          <p:nvPr/>
        </p:nvSpPr>
        <p:spPr>
          <a:xfrm>
            <a:off x="566928" y="32369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CRITICAL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1" name="Google Shape;1201;p25"/>
          <p:cNvSpPr/>
          <p:nvPr/>
        </p:nvSpPr>
        <p:spPr>
          <a:xfrm>
            <a:off x="3474720" y="32369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2" name="Google Shape;1202;p25"/>
          <p:cNvCxnSpPr/>
          <p:nvPr/>
        </p:nvCxnSpPr>
        <p:spPr>
          <a:xfrm>
            <a:off x="548640" y="341985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3" name="Google Shape;1203;p25"/>
          <p:cNvSpPr/>
          <p:nvPr/>
        </p:nvSpPr>
        <p:spPr>
          <a:xfrm>
            <a:off x="566928" y="34198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FAULT (kernel)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5"/>
          <p:cNvSpPr/>
          <p:nvPr/>
        </p:nvSpPr>
        <p:spPr>
          <a:xfrm>
            <a:off x="3474720" y="341985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5" name="Google Shape;1205;p25"/>
          <p:cNvCxnSpPr/>
          <p:nvPr/>
        </p:nvCxnSpPr>
        <p:spPr>
          <a:xfrm>
            <a:off x="548640" y="360273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6" name="Google Shape;1206;p25"/>
          <p:cNvSpPr/>
          <p:nvPr/>
        </p:nvSpPr>
        <p:spPr>
          <a:xfrm>
            <a:off x="566928" y="360273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WARN level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7" name="Google Shape;1207;p25"/>
          <p:cNvSpPr/>
          <p:nvPr/>
        </p:nvSpPr>
        <p:spPr>
          <a:xfrm>
            <a:off x="3474720" y="36027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08" name="Google Shape;1208;p25"/>
          <p:cNvCxnSpPr/>
          <p:nvPr/>
        </p:nvCxnSpPr>
        <p:spPr>
          <a:xfrm>
            <a:off x="548640" y="378561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9" name="Google Shape;1209;p25"/>
          <p:cNvSpPr/>
          <p:nvPr/>
        </p:nvSpPr>
        <p:spPr>
          <a:xfrm>
            <a:off x="566928" y="378561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Crash reports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5"/>
          <p:cNvSpPr/>
          <p:nvPr/>
        </p:nvSpPr>
        <p:spPr>
          <a:xfrm>
            <a:off x="3474720" y="3785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1" name="Google Shape;1211;p25"/>
          <p:cNvCxnSpPr/>
          <p:nvPr/>
        </p:nvCxnSpPr>
        <p:spPr>
          <a:xfrm>
            <a:off x="548640" y="396849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2" name="Google Shape;1212;p25"/>
          <p:cNvSpPr/>
          <p:nvPr/>
        </p:nvSpPr>
        <p:spPr>
          <a:xfrm>
            <a:off x="566928" y="396849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Unique clusters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3" name="Google Shape;1213;p25"/>
          <p:cNvSpPr/>
          <p:nvPr/>
        </p:nvSpPr>
        <p:spPr>
          <a:xfrm>
            <a:off x="3474720" y="396849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4" name="Google Shape;1214;p25"/>
          <p:cNvCxnSpPr/>
          <p:nvPr/>
        </p:nvCxnSpPr>
        <p:spPr>
          <a:xfrm>
            <a:off x="548640" y="415137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5" name="Google Shape;1215;p25"/>
          <p:cNvSpPr/>
          <p:nvPr/>
        </p:nvSpPr>
        <p:spPr>
          <a:xfrm>
            <a:off x="566928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Sigs matched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5"/>
          <p:cNvSpPr/>
          <p:nvPr/>
        </p:nvSpPr>
        <p:spPr>
          <a:xfrm>
            <a:off x="3474720" y="41513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17" name="Google Shape;1217;p25"/>
          <p:cNvCxnSpPr/>
          <p:nvPr/>
        </p:nvCxnSpPr>
        <p:spPr>
          <a:xfrm>
            <a:off x="548640" y="433425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8" name="Google Shape;1218;p25"/>
          <p:cNvSpPr/>
          <p:nvPr/>
        </p:nvSpPr>
        <p:spPr>
          <a:xfrm>
            <a:off x="566928" y="43342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Analysis window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9" name="Google Shape;1219;p25"/>
          <p:cNvSpPr/>
          <p:nvPr/>
        </p:nvSpPr>
        <p:spPr>
          <a:xfrm>
            <a:off x="3474720" y="433425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59 min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0" name="Google Shape;1220;p25"/>
          <p:cNvCxnSpPr/>
          <p:nvPr/>
        </p:nvCxnSpPr>
        <p:spPr>
          <a:xfrm>
            <a:off x="548640" y="451713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1" name="Google Shape;1221;p25"/>
          <p:cNvSpPr/>
          <p:nvPr/>
        </p:nvSpPr>
        <p:spPr>
          <a:xfrm>
            <a:off x="566928" y="451713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Root causes found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5"/>
          <p:cNvSpPr/>
          <p:nvPr/>
        </p:nvSpPr>
        <p:spPr>
          <a:xfrm>
            <a:off x="3474720" y="45171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3" name="Google Shape;1223;p25"/>
          <p:cNvSpPr/>
          <p:nvPr/>
        </p:nvSpPr>
        <p:spPr>
          <a:xfrm>
            <a:off x="4663440" y="2304288"/>
            <a:ext cx="4023360" cy="2542032"/>
          </a:xfrm>
          <a:prstGeom prst="rect">
            <a:avLst/>
          </a:prstGeom>
          <a:solidFill>
            <a:srgbClr val="0F1520"/>
          </a:solidFill>
          <a:ln cap="flat" cmpd="sng" w="1015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4" name="Google Shape;1224;p25"/>
          <p:cNvSpPr/>
          <p:nvPr/>
        </p:nvSpPr>
        <p:spPr>
          <a:xfrm>
            <a:off x="4663440" y="2304288"/>
            <a:ext cx="4023360" cy="54864"/>
          </a:xfrm>
          <a:prstGeom prst="rect">
            <a:avLst/>
          </a:prstGeom>
          <a:solidFill>
            <a:srgbClr val="28D47A"/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5"/>
          <p:cNvSpPr/>
          <p:nvPr/>
        </p:nvSpPr>
        <p:spPr>
          <a:xfrm>
            <a:off x="4773168" y="2414016"/>
            <a:ext cx="38039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900"/>
              <a:buFont typeface="Calibri"/>
              <a:buNone/>
            </a:pPr>
            <a:r>
              <a:rPr b="1" i="0" lang="en" sz="9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CODEBASE METRICS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6" name="Google Shape;1226;p25"/>
          <p:cNvSpPr/>
          <p:nvPr/>
        </p:nvSpPr>
        <p:spPr>
          <a:xfrm>
            <a:off x="4773168" y="268833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1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Metric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5"/>
          <p:cNvSpPr/>
          <p:nvPr/>
        </p:nvSpPr>
        <p:spPr>
          <a:xfrm>
            <a:off x="7680960" y="26883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800"/>
              <a:buFont typeface="Calibri"/>
              <a:buNone/>
            </a:pPr>
            <a:r>
              <a:rPr b="0" i="0" lang="en" sz="8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28" name="Google Shape;1228;p25"/>
          <p:cNvCxnSpPr/>
          <p:nvPr/>
        </p:nvCxnSpPr>
        <p:spPr>
          <a:xfrm>
            <a:off x="4754880" y="287121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29" name="Google Shape;1229;p25"/>
          <p:cNvSpPr/>
          <p:nvPr/>
        </p:nvSpPr>
        <p:spPr>
          <a:xfrm>
            <a:off x="4773168" y="287121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Python source files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5"/>
          <p:cNvSpPr/>
          <p:nvPr/>
        </p:nvSpPr>
        <p:spPr>
          <a:xfrm>
            <a:off x="7680960" y="28712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1" name="Google Shape;1231;p25"/>
          <p:cNvCxnSpPr/>
          <p:nvPr/>
        </p:nvCxnSpPr>
        <p:spPr>
          <a:xfrm>
            <a:off x="4754880" y="305409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2" name="Google Shape;1232;p25"/>
          <p:cNvSpPr/>
          <p:nvPr/>
        </p:nvSpPr>
        <p:spPr>
          <a:xfrm>
            <a:off x="4773168" y="305409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Total lines of code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3" name="Google Shape;1233;p25"/>
          <p:cNvSpPr/>
          <p:nvPr/>
        </p:nvSpPr>
        <p:spPr>
          <a:xfrm>
            <a:off x="7680960" y="305409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~1,100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4" name="Google Shape;1234;p25"/>
          <p:cNvCxnSpPr/>
          <p:nvPr/>
        </p:nvCxnSpPr>
        <p:spPr>
          <a:xfrm>
            <a:off x="4754880" y="323697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5" name="Google Shape;1235;p25"/>
          <p:cNvSpPr/>
          <p:nvPr/>
        </p:nvSpPr>
        <p:spPr>
          <a:xfrm>
            <a:off x="4773168" y="32369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Test file lines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5"/>
          <p:cNvSpPr/>
          <p:nvPr/>
        </p:nvSpPr>
        <p:spPr>
          <a:xfrm>
            <a:off x="7680960" y="32369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714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37" name="Google Shape;1237;p25"/>
          <p:cNvCxnSpPr/>
          <p:nvPr/>
        </p:nvCxnSpPr>
        <p:spPr>
          <a:xfrm>
            <a:off x="4754880" y="341985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8" name="Google Shape;1238;p25"/>
          <p:cNvSpPr/>
          <p:nvPr/>
        </p:nvSpPr>
        <p:spPr>
          <a:xfrm>
            <a:off x="4773168" y="34198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Number of tests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25"/>
          <p:cNvSpPr/>
          <p:nvPr/>
        </p:nvSpPr>
        <p:spPr>
          <a:xfrm>
            <a:off x="7680960" y="341985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40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0" name="Google Shape;1240;p25"/>
          <p:cNvCxnSpPr/>
          <p:nvPr/>
        </p:nvCxnSpPr>
        <p:spPr>
          <a:xfrm>
            <a:off x="4754880" y="360273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1" name="Google Shape;1241;p25"/>
          <p:cNvSpPr/>
          <p:nvPr/>
        </p:nvSpPr>
        <p:spPr>
          <a:xfrm>
            <a:off x="4773168" y="360273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Test failures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2" name="Google Shape;1242;p25"/>
          <p:cNvSpPr/>
          <p:nvPr/>
        </p:nvSpPr>
        <p:spPr>
          <a:xfrm>
            <a:off x="7680960" y="36027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3" name="Google Shape;1243;p25"/>
          <p:cNvCxnSpPr/>
          <p:nvPr/>
        </p:nvCxnSpPr>
        <p:spPr>
          <a:xfrm>
            <a:off x="4754880" y="378561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4" name="Google Shape;1244;p25"/>
          <p:cNvSpPr/>
          <p:nvPr/>
        </p:nvSpPr>
        <p:spPr>
          <a:xfrm>
            <a:off x="4773168" y="378561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Avg code coverage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5"/>
          <p:cNvSpPr/>
          <p:nvPr/>
        </p:nvSpPr>
        <p:spPr>
          <a:xfrm>
            <a:off x="7680960" y="378561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88%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6" name="Google Shape;1246;p25"/>
          <p:cNvCxnSpPr/>
          <p:nvPr/>
        </p:nvCxnSpPr>
        <p:spPr>
          <a:xfrm>
            <a:off x="4754880" y="396849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7" name="Google Shape;1247;p25"/>
          <p:cNvSpPr/>
          <p:nvPr/>
        </p:nvSpPr>
        <p:spPr>
          <a:xfrm>
            <a:off x="4773168" y="396849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Failure signatures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8" name="Google Shape;1248;p25"/>
          <p:cNvSpPr/>
          <p:nvPr/>
        </p:nvSpPr>
        <p:spPr>
          <a:xfrm>
            <a:off x="7680960" y="396849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9" name="Google Shape;1249;p25"/>
          <p:cNvCxnSpPr/>
          <p:nvPr/>
        </p:nvCxnSpPr>
        <p:spPr>
          <a:xfrm>
            <a:off x="4754880" y="415137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0" name="Google Shape;1250;p25"/>
          <p:cNvSpPr/>
          <p:nvPr/>
        </p:nvSpPr>
        <p:spPr>
          <a:xfrm>
            <a:off x="4773168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Regex patterns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5"/>
          <p:cNvSpPr/>
          <p:nvPr/>
        </p:nvSpPr>
        <p:spPr>
          <a:xfrm>
            <a:off x="7680960" y="415137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07C3A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F07C3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2" name="Google Shape;1252;p25"/>
          <p:cNvCxnSpPr/>
          <p:nvPr/>
        </p:nvCxnSpPr>
        <p:spPr>
          <a:xfrm>
            <a:off x="4754880" y="433425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3" name="Google Shape;1253;p25"/>
          <p:cNvSpPr/>
          <p:nvPr/>
        </p:nvSpPr>
        <p:spPr>
          <a:xfrm>
            <a:off x="4773168" y="433425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API endpoints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25"/>
          <p:cNvSpPr/>
          <p:nvPr/>
        </p:nvSpPr>
        <p:spPr>
          <a:xfrm>
            <a:off x="7680960" y="433425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5" name="Google Shape;1255;p25"/>
          <p:cNvCxnSpPr/>
          <p:nvPr/>
        </p:nvCxnSpPr>
        <p:spPr>
          <a:xfrm>
            <a:off x="4754880" y="4517136"/>
            <a:ext cx="3840480" cy="0"/>
          </a:xfrm>
          <a:prstGeom prst="straightConnector1">
            <a:avLst/>
          </a:prstGeom>
          <a:noFill/>
          <a:ln cap="flat" cmpd="sng" w="9525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6" name="Google Shape;1256;p25"/>
          <p:cNvSpPr/>
          <p:nvPr/>
        </p:nvSpPr>
        <p:spPr>
          <a:xfrm>
            <a:off x="4773168" y="451713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CCE0"/>
              </a:buClr>
              <a:buSzPts val="900"/>
              <a:buFont typeface="Calibri"/>
              <a:buNone/>
            </a:pPr>
            <a:r>
              <a:rPr b="0" i="0" lang="en" sz="900" u="none" cap="none" strike="noStrike">
                <a:solidFill>
                  <a:srgbClr val="C0CCE0"/>
                </a:solidFill>
                <a:latin typeface="Calibri"/>
                <a:ea typeface="Calibri"/>
                <a:cs typeface="Calibri"/>
                <a:sym typeface="Calibri"/>
              </a:rPr>
              <a:t>External deps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5"/>
          <p:cNvSpPr/>
          <p:nvPr/>
        </p:nvSpPr>
        <p:spPr>
          <a:xfrm>
            <a:off x="7680960" y="4517136"/>
            <a:ext cx="8229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000"/>
              <a:buFont typeface="Calibri"/>
              <a:buNone/>
            </a:pPr>
            <a:r>
              <a:rPr b="1" i="0" lang="en" sz="1000" u="none" cap="none" strike="noStrike">
                <a:solidFill>
                  <a:srgbClr val="E8B84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7080C"/>
        </a:solidFill>
      </p:bgPr>
    </p:bg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3" name="Google Shape;1263;p26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4" name="Google Shape;1264;p26"/>
          <p:cNvCxnSpPr/>
          <p:nvPr/>
        </p:nvCxnSpPr>
        <p:spPr>
          <a:xfrm>
            <a:off x="365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5" name="Google Shape;1265;p26"/>
          <p:cNvCxnSpPr/>
          <p:nvPr/>
        </p:nvCxnSpPr>
        <p:spPr>
          <a:xfrm>
            <a:off x="731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6" name="Google Shape;1266;p26"/>
          <p:cNvCxnSpPr/>
          <p:nvPr/>
        </p:nvCxnSpPr>
        <p:spPr>
          <a:xfrm>
            <a:off x="1097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7" name="Google Shape;1267;p26"/>
          <p:cNvCxnSpPr/>
          <p:nvPr/>
        </p:nvCxnSpPr>
        <p:spPr>
          <a:xfrm>
            <a:off x="1463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8" name="Google Shape;1268;p26"/>
          <p:cNvCxnSpPr/>
          <p:nvPr/>
        </p:nvCxnSpPr>
        <p:spPr>
          <a:xfrm>
            <a:off x="1828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69" name="Google Shape;1269;p26"/>
          <p:cNvCxnSpPr/>
          <p:nvPr/>
        </p:nvCxnSpPr>
        <p:spPr>
          <a:xfrm>
            <a:off x="2194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26"/>
          <p:cNvCxnSpPr/>
          <p:nvPr/>
        </p:nvCxnSpPr>
        <p:spPr>
          <a:xfrm>
            <a:off x="25603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1" name="Google Shape;1271;p26"/>
          <p:cNvCxnSpPr/>
          <p:nvPr/>
        </p:nvCxnSpPr>
        <p:spPr>
          <a:xfrm>
            <a:off x="29260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2" name="Google Shape;1272;p26"/>
          <p:cNvCxnSpPr/>
          <p:nvPr/>
        </p:nvCxnSpPr>
        <p:spPr>
          <a:xfrm>
            <a:off x="3291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3" name="Google Shape;1273;p26"/>
          <p:cNvCxnSpPr/>
          <p:nvPr/>
        </p:nvCxnSpPr>
        <p:spPr>
          <a:xfrm>
            <a:off x="3657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4" name="Google Shape;1274;p26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5" name="Google Shape;1275;p26"/>
          <p:cNvCxnSpPr/>
          <p:nvPr/>
        </p:nvCxnSpPr>
        <p:spPr>
          <a:xfrm>
            <a:off x="4389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6" name="Google Shape;1276;p26"/>
          <p:cNvCxnSpPr/>
          <p:nvPr/>
        </p:nvCxnSpPr>
        <p:spPr>
          <a:xfrm>
            <a:off x="4754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7" name="Google Shape;1277;p26"/>
          <p:cNvCxnSpPr/>
          <p:nvPr/>
        </p:nvCxnSpPr>
        <p:spPr>
          <a:xfrm>
            <a:off x="5120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26"/>
          <p:cNvCxnSpPr/>
          <p:nvPr/>
        </p:nvCxnSpPr>
        <p:spPr>
          <a:xfrm>
            <a:off x="54864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9" name="Google Shape;1279;p26"/>
          <p:cNvCxnSpPr/>
          <p:nvPr/>
        </p:nvCxnSpPr>
        <p:spPr>
          <a:xfrm>
            <a:off x="58521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0" name="Google Shape;1280;p26"/>
          <p:cNvCxnSpPr/>
          <p:nvPr/>
        </p:nvCxnSpPr>
        <p:spPr>
          <a:xfrm>
            <a:off x="6217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26"/>
          <p:cNvCxnSpPr/>
          <p:nvPr/>
        </p:nvCxnSpPr>
        <p:spPr>
          <a:xfrm>
            <a:off x="6583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2" name="Google Shape;1282;p26"/>
          <p:cNvCxnSpPr/>
          <p:nvPr/>
        </p:nvCxnSpPr>
        <p:spPr>
          <a:xfrm>
            <a:off x="6949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3" name="Google Shape;1283;p26"/>
          <p:cNvCxnSpPr/>
          <p:nvPr/>
        </p:nvCxnSpPr>
        <p:spPr>
          <a:xfrm>
            <a:off x="7315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4" name="Google Shape;1284;p26"/>
          <p:cNvCxnSpPr/>
          <p:nvPr/>
        </p:nvCxnSpPr>
        <p:spPr>
          <a:xfrm>
            <a:off x="7680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5" name="Google Shape;1285;p26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6" name="Google Shape;1286;p26"/>
          <p:cNvCxnSpPr/>
          <p:nvPr/>
        </p:nvCxnSpPr>
        <p:spPr>
          <a:xfrm>
            <a:off x="8412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7" name="Google Shape;1287;p26"/>
          <p:cNvCxnSpPr/>
          <p:nvPr/>
        </p:nvCxnSpPr>
        <p:spPr>
          <a:xfrm>
            <a:off x="87782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26"/>
          <p:cNvCxnSpPr/>
          <p:nvPr/>
        </p:nvCxnSpPr>
        <p:spPr>
          <a:xfrm>
            <a:off x="91440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26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26"/>
          <p:cNvCxnSpPr/>
          <p:nvPr/>
        </p:nvCxnSpPr>
        <p:spPr>
          <a:xfrm>
            <a:off x="0" y="3657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1" name="Google Shape;1291;p26"/>
          <p:cNvCxnSpPr/>
          <p:nvPr/>
        </p:nvCxnSpPr>
        <p:spPr>
          <a:xfrm>
            <a:off x="0" y="7315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2" name="Google Shape;1292;p26"/>
          <p:cNvCxnSpPr/>
          <p:nvPr/>
        </p:nvCxnSpPr>
        <p:spPr>
          <a:xfrm>
            <a:off x="0" y="10972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3" name="Google Shape;1293;p26"/>
          <p:cNvCxnSpPr/>
          <p:nvPr/>
        </p:nvCxnSpPr>
        <p:spPr>
          <a:xfrm>
            <a:off x="0" y="14630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4" name="Google Shape;1294;p26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5" name="Google Shape;1295;p26"/>
          <p:cNvCxnSpPr/>
          <p:nvPr/>
        </p:nvCxnSpPr>
        <p:spPr>
          <a:xfrm>
            <a:off x="0" y="21945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6" name="Google Shape;1296;p26"/>
          <p:cNvCxnSpPr/>
          <p:nvPr/>
        </p:nvCxnSpPr>
        <p:spPr>
          <a:xfrm>
            <a:off x="0" y="25603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7" name="Google Shape;1297;p26"/>
          <p:cNvCxnSpPr/>
          <p:nvPr/>
        </p:nvCxnSpPr>
        <p:spPr>
          <a:xfrm>
            <a:off x="0" y="29260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8" name="Google Shape;1298;p26"/>
          <p:cNvCxnSpPr/>
          <p:nvPr/>
        </p:nvCxnSpPr>
        <p:spPr>
          <a:xfrm>
            <a:off x="0" y="32918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9" name="Google Shape;1299;p26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0" name="Google Shape;1300;p26"/>
          <p:cNvCxnSpPr/>
          <p:nvPr/>
        </p:nvCxnSpPr>
        <p:spPr>
          <a:xfrm>
            <a:off x="0" y="402336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1" name="Google Shape;1301;p26"/>
          <p:cNvCxnSpPr/>
          <p:nvPr/>
        </p:nvCxnSpPr>
        <p:spPr>
          <a:xfrm>
            <a:off x="0" y="438912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2" name="Google Shape;1302;p26"/>
          <p:cNvCxnSpPr/>
          <p:nvPr/>
        </p:nvCxnSpPr>
        <p:spPr>
          <a:xfrm>
            <a:off x="0" y="475488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3" name="Google Shape;1303;p26"/>
          <p:cNvCxnSpPr/>
          <p:nvPr/>
        </p:nvCxnSpPr>
        <p:spPr>
          <a:xfrm>
            <a:off x="0" y="512064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A203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4" name="Google Shape;1304;p2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6"/>
          <p:cNvSpPr/>
          <p:nvPr/>
        </p:nvSpPr>
        <p:spPr>
          <a:xfrm>
            <a:off x="457200" y="731520"/>
            <a:ext cx="82296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41B2A"/>
              </a:buClr>
              <a:buSzPts val="13000"/>
              <a:buFont typeface="Calibri"/>
              <a:buNone/>
            </a:pPr>
            <a:r>
              <a:rPr b="1" i="0" lang="en" sz="13000" u="none" cap="none" strike="noStrike">
                <a:solidFill>
                  <a:srgbClr val="141B2A"/>
                </a:solidFill>
                <a:latin typeface="Calibri"/>
                <a:ea typeface="Calibri"/>
                <a:cs typeface="Calibri"/>
                <a:sym typeface="Calibri"/>
              </a:rPr>
              <a:t>LOGWISE</a:t>
            </a:r>
            <a:endParaRPr b="0" i="0" sz="1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6"/>
          <p:cNvSpPr/>
          <p:nvPr/>
        </p:nvSpPr>
        <p:spPr>
          <a:xfrm>
            <a:off x="731520" y="132588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4000"/>
              <a:buFont typeface="Calibri"/>
              <a:buNone/>
            </a:pPr>
            <a:r>
              <a:rPr b="1" i="0" lang="en" sz="40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Summary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7" name="Google Shape;1307;p26"/>
          <p:cNvSpPr/>
          <p:nvPr/>
        </p:nvSpPr>
        <p:spPr>
          <a:xfrm>
            <a:off x="731520" y="2167128"/>
            <a:ext cx="292608" cy="292608"/>
          </a:xfrm>
          <a:prstGeom prst="ellipse">
            <a:avLst/>
          </a:prstGeom>
          <a:solidFill>
            <a:srgbClr val="E84545">
              <a:alpha val="20000"/>
            </a:srgbClr>
          </a:solidFill>
          <a:ln cap="flat" cmpd="sng" w="12700">
            <a:solidFill>
              <a:srgbClr val="E845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26"/>
          <p:cNvSpPr/>
          <p:nvPr/>
        </p:nvSpPr>
        <p:spPr>
          <a:xfrm>
            <a:off x="731520" y="21671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54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E8454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26"/>
          <p:cNvSpPr/>
          <p:nvPr/>
        </p:nvSpPr>
        <p:spPr>
          <a:xfrm>
            <a:off x="1115568" y="20574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6"/>
          <p:cNvSpPr/>
          <p:nvPr/>
        </p:nvSpPr>
        <p:spPr>
          <a:xfrm>
            <a:off x="1115568" y="233172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Enterprise macOS failures where logs are the only evidence. Root cause always in kernel/configd, never in the app log.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1" name="Google Shape;1311;p26"/>
          <p:cNvSpPr/>
          <p:nvPr/>
        </p:nvSpPr>
        <p:spPr>
          <a:xfrm>
            <a:off x="731520" y="2852928"/>
            <a:ext cx="292608" cy="292608"/>
          </a:xfrm>
          <a:prstGeom prst="ellipse">
            <a:avLst/>
          </a:prstGeom>
          <a:solidFill>
            <a:srgbClr val="3AB8F5">
              <a:alpha val="20000"/>
            </a:srgbClr>
          </a:solidFill>
          <a:ln cap="flat" cmpd="sng" w="12700">
            <a:solidFill>
              <a:srgbClr val="3AB8F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2" name="Google Shape;1312;p26"/>
          <p:cNvSpPr/>
          <p:nvPr/>
        </p:nvSpPr>
        <p:spPr>
          <a:xfrm>
            <a:off x="731520" y="28529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AB8F5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3AB8F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26"/>
          <p:cNvSpPr/>
          <p:nvPr/>
        </p:nvSpPr>
        <p:spPr>
          <a:xfrm>
            <a:off x="1115568" y="27432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6"/>
          <p:cNvSpPr/>
          <p:nvPr/>
        </p:nvSpPr>
        <p:spPr>
          <a:xfrm>
            <a:off x="1115568" y="301752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4-stage pipeline: Parse → Cluster → Match → Reason. Each stage removes one category of noise. AI synthesizes causality last.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26"/>
          <p:cNvSpPr/>
          <p:nvPr/>
        </p:nvSpPr>
        <p:spPr>
          <a:xfrm>
            <a:off x="731520" y="3538728"/>
            <a:ext cx="292608" cy="292608"/>
          </a:xfrm>
          <a:prstGeom prst="ellipse">
            <a:avLst/>
          </a:prstGeom>
          <a:solidFill>
            <a:srgbClr val="28D47A">
              <a:alpha val="20000"/>
            </a:srgbClr>
          </a:solidFill>
          <a:ln cap="flat" cmpd="sng" w="12700">
            <a:solidFill>
              <a:srgbClr val="28D4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26"/>
          <p:cNvSpPr/>
          <p:nvPr/>
        </p:nvSpPr>
        <p:spPr>
          <a:xfrm>
            <a:off x="731520" y="3538728"/>
            <a:ext cx="292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8D47A"/>
              </a:buClr>
              <a:buSzPts val="1200"/>
              <a:buFont typeface="Calibri"/>
              <a:buNone/>
            </a:pPr>
            <a:r>
              <a:rPr b="1" i="0" lang="en" sz="1200" u="none" cap="none" strike="noStrike">
                <a:solidFill>
                  <a:srgbClr val="28D4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7" name="Google Shape;1317;p26"/>
          <p:cNvSpPr/>
          <p:nvPr/>
        </p:nvSpPr>
        <p:spPr>
          <a:xfrm>
            <a:off x="1115568" y="3429000"/>
            <a:ext cx="7132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400"/>
              <a:buFont typeface="Calibri"/>
              <a:buNone/>
            </a:pPr>
            <a:r>
              <a:rPr b="1" i="0" lang="en" sz="14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The Result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6"/>
          <p:cNvSpPr/>
          <p:nvPr/>
        </p:nvSpPr>
        <p:spPr>
          <a:xfrm>
            <a:off x="1115568" y="3703320"/>
            <a:ext cx="7132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6B0"/>
              </a:buClr>
              <a:buSzPts val="1100"/>
              <a:buFont typeface="Calibri"/>
              <a:buNone/>
            </a:pPr>
            <a:r>
              <a:rPr b="0" i="0" lang="en" sz="1100" u="none" cap="none" strike="noStrike">
                <a:solidFill>
                  <a:srgbClr val="8896B0"/>
                </a:solidFill>
                <a:latin typeface="Calibri"/>
                <a:ea typeface="Calibri"/>
                <a:cs typeface="Calibri"/>
                <a:sym typeface="Calibri"/>
              </a:rPr>
              <a:t>7 symptoms. 1 root cause. Playbook ready to run. 40 tests. 88% coverage. Works offline. Zero customer input needed.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9" name="Google Shape;1319;p26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F1520"/>
          </a:solidFill>
          <a:ln cap="flat" cmpd="sng" w="12700">
            <a:solidFill>
              <a:srgbClr val="1E28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26"/>
          <p:cNvSpPr/>
          <p:nvPr/>
        </p:nvSpPr>
        <p:spPr>
          <a:xfrm>
            <a:off x="0" y="4617720"/>
            <a:ext cx="9144000" cy="36576"/>
          </a:xfrm>
          <a:prstGeom prst="rect">
            <a:avLst/>
          </a:prstGeom>
          <a:solidFill>
            <a:srgbClr val="E8B84B"/>
          </a:solidFill>
          <a:ln cap="flat" cmpd="sng" w="1270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6"/>
          <p:cNvSpPr/>
          <p:nvPr/>
        </p:nvSpPr>
        <p:spPr>
          <a:xfrm>
            <a:off x="457200" y="466344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B84B"/>
              </a:buClr>
              <a:buSzPts val="1200"/>
              <a:buFont typeface="Consolas"/>
              <a:buNone/>
            </a:pPr>
            <a:r>
              <a:rPr b="1" i="0" lang="en" sz="12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github.com/</a:t>
            </a:r>
            <a:r>
              <a:rPr b="1" lang="en" sz="120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shweta259</a:t>
            </a:r>
            <a:r>
              <a:rPr b="1" i="0" lang="en" sz="12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/</a:t>
            </a:r>
            <a:r>
              <a:rPr b="1" lang="en" sz="120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L</a:t>
            </a:r>
            <a:r>
              <a:rPr b="1" i="0" lang="en" sz="12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og</a:t>
            </a:r>
            <a:r>
              <a:rPr b="1" lang="en" sz="1200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W</a:t>
            </a:r>
            <a:r>
              <a:rPr b="1" i="0" lang="en" sz="1200" u="none" cap="none" strike="noStrike">
                <a:solidFill>
                  <a:srgbClr val="E8B84B"/>
                </a:solidFill>
                <a:latin typeface="Consolas"/>
                <a:ea typeface="Consolas"/>
                <a:cs typeface="Consolas"/>
                <a:sym typeface="Consolas"/>
              </a:rPr>
              <a:t>ise/tree/dev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2" name="Google Shape;1322;p26"/>
          <p:cNvCxnSpPr/>
          <p:nvPr/>
        </p:nvCxnSpPr>
        <p:spPr>
          <a:xfrm>
            <a:off x="640080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3" name="Google Shape;1323;p26"/>
          <p:cNvCxnSpPr/>
          <p:nvPr/>
        </p:nvCxnSpPr>
        <p:spPr>
          <a:xfrm>
            <a:off x="64008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4" name="Google Shape;1324;p26"/>
          <p:cNvCxnSpPr/>
          <p:nvPr/>
        </p:nvCxnSpPr>
        <p:spPr>
          <a:xfrm>
            <a:off x="8339328" y="123444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5" name="Google Shape;1325;p26"/>
          <p:cNvCxnSpPr/>
          <p:nvPr/>
        </p:nvCxnSpPr>
        <p:spPr>
          <a:xfrm>
            <a:off x="8503920" y="1234440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6" name="Google Shape;1326;p26"/>
          <p:cNvCxnSpPr/>
          <p:nvPr/>
        </p:nvCxnSpPr>
        <p:spPr>
          <a:xfrm>
            <a:off x="640080" y="40873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7" name="Google Shape;1327;p26"/>
          <p:cNvCxnSpPr/>
          <p:nvPr/>
        </p:nvCxnSpPr>
        <p:spPr>
          <a:xfrm>
            <a:off x="640080" y="42519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8" name="Google Shape;1328;p26"/>
          <p:cNvCxnSpPr/>
          <p:nvPr/>
        </p:nvCxnSpPr>
        <p:spPr>
          <a:xfrm>
            <a:off x="8339328" y="425196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9" name="Google Shape;1329;p26"/>
          <p:cNvCxnSpPr/>
          <p:nvPr/>
        </p:nvCxnSpPr>
        <p:spPr>
          <a:xfrm>
            <a:off x="8503920" y="4087368"/>
            <a:ext cx="0" cy="164592"/>
          </a:xfrm>
          <a:prstGeom prst="straightConnector1">
            <a:avLst/>
          </a:prstGeom>
          <a:noFill/>
          <a:ln cap="flat" cmpd="sng" w="19050">
            <a:solidFill>
              <a:srgbClr val="E8B84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